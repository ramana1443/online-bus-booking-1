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74" r:id="rId6"/>
    <p:sldId id="278" r:id="rId7"/>
    <p:sldId id="280" r:id="rId8"/>
    <p:sldId id="283" r:id="rId9"/>
    <p:sldId id="285" r:id="rId10"/>
    <p:sldId id="271" r:id="rId11"/>
    <p:sldId id="281" r:id="rId12"/>
    <p:sldId id="292" r:id="rId13"/>
    <p:sldId id="287" r:id="rId14"/>
    <p:sldId id="289" r:id="rId15"/>
    <p:sldId id="288" r:id="rId16"/>
    <p:sldId id="290" r:id="rId17"/>
    <p:sldId id="268" r:id="rId18"/>
    <p:sldId id="269" r:id="rId19"/>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63" autoAdjust="0"/>
    <p:restoredTop sz="91979" autoAdjust="0"/>
  </p:normalViewPr>
  <p:slideViewPr>
    <p:cSldViewPr>
      <p:cViewPr varScale="1">
        <p:scale>
          <a:sx n="104" d="100"/>
          <a:sy n="104" d="100"/>
        </p:scale>
        <p:origin x="1960" y="-124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07/04/26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A07A5-14C6-E585-8655-9D9D52E50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451EA-1440-E913-BE4A-B614B423C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B861F-0E31-A9FE-3DE3-C88AA9FDC23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B3FD6E-6CD7-73E7-5843-F5D2AC9D0C79}"/>
              </a:ext>
            </a:extLst>
          </p:cNvPr>
          <p:cNvSpPr>
            <a:spLocks noGrp="1"/>
          </p:cNvSpPr>
          <p:nvPr>
            <p:ph type="sldNum" sz="quarter" idx="10"/>
          </p:nvPr>
        </p:nvSpPr>
        <p:spPr/>
        <p:txBody>
          <a:bodyPr/>
          <a:lstStyle/>
          <a:p>
            <a:fld id="{67E471F2-2083-493A-8C9E-53209FFA1EC8}" type="slidenum">
              <a:rPr lang="en-IN" smtClean="0"/>
              <a:t>7</a:t>
            </a:fld>
            <a:endParaRPr lang="en-IN"/>
          </a:p>
        </p:txBody>
      </p:sp>
    </p:spTree>
    <p:extLst>
      <p:ext uri="{BB962C8B-B14F-4D97-AF65-F5344CB8AC3E}">
        <p14:creationId xmlns:p14="http://schemas.microsoft.com/office/powerpoint/2010/main" val="3766118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D6944-C75D-642A-33EC-861C4C9EE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92471-DA30-4B37-FCA6-6EF20124D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FE530-0FC2-EC25-4907-8124FE661A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03AE0AE-6066-70F2-58D0-DE497EDE96FC}"/>
              </a:ext>
            </a:extLst>
          </p:cNvPr>
          <p:cNvSpPr>
            <a:spLocks noGrp="1"/>
          </p:cNvSpPr>
          <p:nvPr>
            <p:ph type="sldNum" sz="quarter" idx="10"/>
          </p:nvPr>
        </p:nvSpPr>
        <p:spPr/>
        <p:txBody>
          <a:bodyPr/>
          <a:lstStyle/>
          <a:p>
            <a:fld id="{67E471F2-2083-493A-8C9E-53209FFA1EC8}" type="slidenum">
              <a:rPr lang="en-IN" smtClean="0"/>
              <a:t>8</a:t>
            </a:fld>
            <a:endParaRPr lang="en-IN"/>
          </a:p>
        </p:txBody>
      </p:sp>
    </p:spTree>
    <p:extLst>
      <p:ext uri="{BB962C8B-B14F-4D97-AF65-F5344CB8AC3E}">
        <p14:creationId xmlns:p14="http://schemas.microsoft.com/office/powerpoint/2010/main" val="3637059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C70F2-0EF9-0550-A72E-404207C35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00AA8-577A-B5F3-39C0-0D9C6D252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2C486-2F3A-630C-86E2-8D8A883F7AE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50BFAA6-56A9-3BDB-EAC1-346BC26C210F}"/>
              </a:ext>
            </a:extLst>
          </p:cNvPr>
          <p:cNvSpPr>
            <a:spLocks noGrp="1"/>
          </p:cNvSpPr>
          <p:nvPr>
            <p:ph type="sldNum" sz="quarter" idx="10"/>
          </p:nvPr>
        </p:nvSpPr>
        <p:spPr/>
        <p:txBody>
          <a:bodyPr/>
          <a:lstStyle/>
          <a:p>
            <a:fld id="{67E471F2-2083-493A-8C9E-53209FFA1EC8}" type="slidenum">
              <a:rPr lang="en-IN" smtClean="0"/>
              <a:t>9</a:t>
            </a:fld>
            <a:endParaRPr lang="en-IN"/>
          </a:p>
        </p:txBody>
      </p:sp>
    </p:spTree>
    <p:extLst>
      <p:ext uri="{BB962C8B-B14F-4D97-AF65-F5344CB8AC3E}">
        <p14:creationId xmlns:p14="http://schemas.microsoft.com/office/powerpoint/2010/main" val="1643100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t>10</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CE3C7-4CAC-83C5-06C3-42A79AAC3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8F73F-5430-C4C7-24B7-978CB7B2C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D4E0F-8063-6714-0B2B-C4C7BFB3BB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6220EE7-BED2-805A-A166-2B514D3FD98E}"/>
              </a:ext>
            </a:extLst>
          </p:cNvPr>
          <p:cNvSpPr>
            <a:spLocks noGrp="1"/>
          </p:cNvSpPr>
          <p:nvPr>
            <p:ph type="sldNum" sz="quarter" idx="10"/>
          </p:nvPr>
        </p:nvSpPr>
        <p:spPr/>
        <p:txBody>
          <a:bodyPr/>
          <a:lstStyle/>
          <a:p>
            <a:fld id="{67E471F2-2083-493A-8C9E-53209FFA1EC8}" type="slidenum">
              <a:rPr lang="en-IN" smtClean="0"/>
              <a:t>11</a:t>
            </a:fld>
            <a:endParaRPr lang="en-IN"/>
          </a:p>
        </p:txBody>
      </p:sp>
    </p:spTree>
    <p:extLst>
      <p:ext uri="{BB962C8B-B14F-4D97-AF65-F5344CB8AC3E}">
        <p14:creationId xmlns:p14="http://schemas.microsoft.com/office/powerpoint/2010/main" val="340130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565D4-DEED-8F77-7875-441F7EC65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0EE74-7167-873A-95DE-2209D38A4B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B17A6-C5DF-DF2F-3449-59AE0E1E523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2A6B2E7-A9E4-7C60-5E8B-7C360EA4C31A}"/>
              </a:ext>
            </a:extLst>
          </p:cNvPr>
          <p:cNvSpPr>
            <a:spLocks noGrp="1"/>
          </p:cNvSpPr>
          <p:nvPr>
            <p:ph type="sldNum" sz="quarter" idx="10"/>
          </p:nvPr>
        </p:nvSpPr>
        <p:spPr/>
        <p:txBody>
          <a:bodyPr/>
          <a:lstStyle/>
          <a:p>
            <a:fld id="{67E471F2-2083-493A-8C9E-53209FFA1EC8}" type="slidenum">
              <a:rPr lang="en-IN" smtClean="0"/>
              <a:t>13</a:t>
            </a:fld>
            <a:endParaRPr lang="en-IN"/>
          </a:p>
        </p:txBody>
      </p:sp>
    </p:spTree>
    <p:extLst>
      <p:ext uri="{BB962C8B-B14F-4D97-AF65-F5344CB8AC3E}">
        <p14:creationId xmlns:p14="http://schemas.microsoft.com/office/powerpoint/2010/main" val="11321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78334-1E7C-9B5D-22F4-8A0874D2C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A05E5-57D3-9020-E1E8-13EECF182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E5D61-29D8-36CA-3B49-ED30EB6DC9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6A6CBA9-998B-04E1-4DEE-A9C50489770F}"/>
              </a:ext>
            </a:extLst>
          </p:cNvPr>
          <p:cNvSpPr>
            <a:spLocks noGrp="1"/>
          </p:cNvSpPr>
          <p:nvPr>
            <p:ph type="sldNum" sz="quarter" idx="10"/>
          </p:nvPr>
        </p:nvSpPr>
        <p:spPr/>
        <p:txBody>
          <a:bodyPr/>
          <a:lstStyle/>
          <a:p>
            <a:fld id="{67E471F2-2083-493A-8C9E-53209FFA1EC8}" type="slidenum">
              <a:rPr lang="en-IN" smtClean="0"/>
              <a:t>14</a:t>
            </a:fld>
            <a:endParaRPr lang="en-IN"/>
          </a:p>
        </p:txBody>
      </p:sp>
    </p:spTree>
    <p:extLst>
      <p:ext uri="{BB962C8B-B14F-4D97-AF65-F5344CB8AC3E}">
        <p14:creationId xmlns:p14="http://schemas.microsoft.com/office/powerpoint/2010/main" val="37506980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0228F-58ED-A8A9-83F6-417BF9E8F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092AC-450B-ED20-CC0E-863B8D3FB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D67FF-E9BF-B02A-BB9A-F8D92EE150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648B14A-9DA2-06A7-BD4E-CC42A4DF4C5A}"/>
              </a:ext>
            </a:extLst>
          </p:cNvPr>
          <p:cNvSpPr>
            <a:spLocks noGrp="1"/>
          </p:cNvSpPr>
          <p:nvPr>
            <p:ph type="sldNum" sz="quarter" idx="10"/>
          </p:nvPr>
        </p:nvSpPr>
        <p:spPr/>
        <p:txBody>
          <a:bodyPr/>
          <a:lstStyle/>
          <a:p>
            <a:fld id="{67E471F2-2083-493A-8C9E-53209FFA1EC8}" type="slidenum">
              <a:rPr lang="en-IN" smtClean="0"/>
              <a:t>15</a:t>
            </a:fld>
            <a:endParaRPr lang="en-IN"/>
          </a:p>
        </p:txBody>
      </p:sp>
    </p:spTree>
    <p:extLst>
      <p:ext uri="{BB962C8B-B14F-4D97-AF65-F5344CB8AC3E}">
        <p14:creationId xmlns:p14="http://schemas.microsoft.com/office/powerpoint/2010/main" val="918734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4/7/26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6.jp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Java Programming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09600" y="2514600"/>
            <a:ext cx="8795306" cy="3556102"/>
          </a:xfrm>
          <a:prstGeom prst="rect">
            <a:avLst/>
          </a:prstGeom>
        </p:spPr>
        <p:txBody>
          <a:bodyPr vert="horz" wrap="square" lIns="0" tIns="16510" rIns="0" bIns="0" rtlCol="0">
            <a:spAutoFit/>
          </a:bodyPr>
          <a:lstStyle/>
          <a:p>
            <a:pPr algn="ctr">
              <a:lnSpc>
                <a:spcPct val="100000"/>
              </a:lnSpc>
              <a:spcBef>
                <a:spcPts val="130"/>
              </a:spcBef>
            </a:pPr>
            <a:r>
              <a:rPr lang="en-US" sz="2400" dirty="0">
                <a:solidFill>
                  <a:srgbClr val="FF0000"/>
                </a:solidFill>
                <a:latin typeface="Times New Roman" panose="02020603050405020304" pitchFamily="18" charset="0"/>
                <a:cs typeface="Times New Roman" panose="02020603050405020304" pitchFamily="18" charset="0"/>
              </a:rPr>
              <a:t>ONLINE BUS BOOKING SYSTEM</a:t>
            </a: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200" spc="-25" dirty="0">
                <a:solidFill>
                  <a:srgbClr val="FF0000"/>
                </a:solidFill>
                <a:latin typeface="Times New Roman" panose="02020603050405020304" pitchFamily="18" charset="0"/>
                <a:cs typeface="Times New Roman" panose="02020603050405020304" pitchFamily="18" charset="0"/>
              </a:rPr>
              <a:t>Presented by</a:t>
            </a: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A. Satya Sandeep  (25B21DS017)</a:t>
            </a: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Ch. Ramana Babu (25B21DS014)</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T  Goutham   (24B11DS237</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R. Murthy </a:t>
            </a:r>
            <a:r>
              <a:rPr lang="en-IN" sz="2000" spc="-10">
                <a:solidFill>
                  <a:srgbClr val="17375E"/>
                </a:solidFill>
                <a:latin typeface="Times New Roman" panose="02020603050405020304" pitchFamily="18" charset="0"/>
                <a:cs typeface="Times New Roman" panose="02020603050405020304" pitchFamily="18" charset="0"/>
              </a:rPr>
              <a:t>(24B11DS238)</a:t>
            </a:r>
            <a:endParaRPr lang="en-IN" sz="2000" spc="-10" dirty="0">
              <a:solidFill>
                <a:srgbClr val="17375E"/>
              </a:solidFill>
              <a:latin typeface="Times New Roman" panose="02020603050405020304" pitchFamily="18" charset="0"/>
              <a:cs typeface="Times New Roman" panose="02020603050405020304" pitchFamily="18" charset="0"/>
            </a:endParaRP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Data Science</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60408" y="1191211"/>
            <a:ext cx="3770980" cy="5495094"/>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Analysis</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Database Design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Design</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System Implementation</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Future Enhancements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References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228600" y="1066800"/>
            <a:ext cx="9525000" cy="6858000"/>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en-IN" sz="2200" dirty="0">
                <a:latin typeface="Times New Roman" panose="02020603050405020304" pitchFamily="18" charset="0"/>
                <a:cs typeface="Times New Roman" panose="02020603050405020304" pitchFamily="18" charset="0"/>
              </a:rPr>
              <a:t>The Online Bus Booking System is a database-driven application designed to simplify the process of reserving bus tickets. It replaces traditional manual booking methods with an efficient, secure, and user-friendly digital platform. The system allows users to search for buses, check seat availability, book tickets, and make payments online from anywhere at any time.</a:t>
            </a:r>
          </a:p>
          <a:p>
            <a:pPr marL="342900" indent="-342900" algn="just">
              <a:lnSpc>
                <a:spcPct val="150000"/>
              </a:lnSpc>
              <a:buFont typeface="Wingdings" panose="05000000000000000000" pitchFamily="2" charset="2"/>
              <a:buChar char="q"/>
            </a:pPr>
            <a:r>
              <a:rPr lang="en-IN" sz="2200" dirty="0">
                <a:latin typeface="Times New Roman" panose="02020603050405020304" pitchFamily="18" charset="0"/>
                <a:cs typeface="Times New Roman" panose="02020603050405020304" pitchFamily="18" charset="0"/>
              </a:rPr>
              <a:t>The Online Bus Booking System is a database-driven application designed to simplify the process of reserving bus tickets. It replaces traditional manual booking methods with an efficient, secure, and user-friendly digital platform. The system allows users to search for buses, check seat availability, book tickets, and make payments online from anywhere at any time.</a:t>
            </a:r>
          </a:p>
          <a:p>
            <a:pPr marL="342900" indent="-342900" algn="just">
              <a:lnSpc>
                <a:spcPct val="150000"/>
              </a:lnSpc>
              <a:buFont typeface="Wingdings" panose="05000000000000000000" pitchFamily="2" charset="2"/>
              <a:buChar char="q"/>
            </a:pPr>
            <a:r>
              <a:rPr lang="en-IN" sz="2200" dirty="0">
                <a:latin typeface="Times New Roman" panose="02020603050405020304" pitchFamily="18" charset="0"/>
                <a:cs typeface="Times New Roman" panose="02020603050405020304" pitchFamily="18" charset="0"/>
              </a:rPr>
              <a:t>Developed using Java for application logic and a relational database such as Oracle with JDBC connectivity, the system supports features like real-time booking, seat selection.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25851B59-AD5A-81AD-7D42-C1CD5E589B58}"/>
              </a:ext>
            </a:extLst>
          </p:cNvPr>
          <p:cNvSpPr txBox="1"/>
          <p:nvPr/>
        </p:nvSpPr>
        <p:spPr>
          <a:xfrm>
            <a:off x="152400" y="1216579"/>
            <a:ext cx="9182100" cy="6498574"/>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IN" sz="2000" dirty="0"/>
              <a:t>The Online Bus Booking System is a modern application developed to automate the process of bus ticket reservation. In traditional systems, ticket booking is done manually at counters, which is time-consuming, prone to errors, and inconvenient for passengers. This system overcomes these limitations by providing an online platform where users can easily search, select, and book bus tickets.</a:t>
            </a:r>
          </a:p>
          <a:p>
            <a:pPr marL="342900" indent="-342900" algn="just">
              <a:lnSpc>
                <a:spcPct val="150000"/>
              </a:lnSpc>
              <a:buFont typeface="Arial" panose="020B0604020202020204" pitchFamily="34" charset="0"/>
              <a:buChar char="•"/>
            </a:pPr>
            <a:r>
              <a:rPr lang="en-IN" sz="2000" dirty="0"/>
              <a:t>The system allows passengers to check available buses based on source and destination, view schedules, choose seats, and complete bookings through a simple interface. It also provides features such as ticket cancellation, booking history, and instant confirmation.</a:t>
            </a:r>
          </a:p>
          <a:p>
            <a:pPr marL="342900" indent="-342900" algn="just">
              <a:lnSpc>
                <a:spcPct val="150000"/>
              </a:lnSpc>
              <a:buFont typeface="Arial" panose="020B0604020202020204" pitchFamily="34" charset="0"/>
              <a:buChar char="•"/>
            </a:pPr>
            <a:r>
              <a:rPr lang="en-IN" sz="2000" dirty="0"/>
              <a:t>Administrators play a crucial role in managing the system by adding bus details, updating routes and schedules, and monitoring bookings. This ensures smooth operation and proper management of transportation services.</a:t>
            </a: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17781" y="332823"/>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290751" y="1216578"/>
            <a:ext cx="8576590" cy="8879354"/>
          </a:xfrm>
          <a:prstGeom prst="rect">
            <a:avLst/>
          </a:prstGeom>
          <a:noFill/>
        </p:spPr>
        <p:txBody>
          <a:bodyPr wrap="square" rtlCol="0">
            <a:spAutoFit/>
          </a:bodyPr>
          <a:lstStyle/>
          <a:p>
            <a:pPr algn="just">
              <a:lnSpc>
                <a:spcPct val="150000"/>
              </a:lnSpc>
              <a:spcBef>
                <a:spcPts val="1200"/>
              </a:spcBef>
            </a:pPr>
            <a:r>
              <a:rPr lang="en-US" sz="2200" b="1" dirty="0">
                <a:latin typeface="Times New Roman" panose="02020603050405020304" pitchFamily="18" charset="0"/>
                <a:cs typeface="Times New Roman" panose="02020603050405020304" pitchFamily="18" charset="0"/>
              </a:rPr>
              <a:t>System Analysis is the process of studying and understanding the requirements of a system before designing it.</a:t>
            </a:r>
          </a:p>
          <a:p>
            <a:pPr algn="l">
              <a:lnSpc>
                <a:spcPct val="150000"/>
              </a:lnSpc>
              <a:spcBef>
                <a:spcPts val="1200"/>
              </a:spcBef>
            </a:pPr>
            <a:r>
              <a:rPr lang="en-US" sz="2200" b="1" dirty="0">
                <a:latin typeface="Times New Roman" panose="02020603050405020304" pitchFamily="18" charset="0"/>
                <a:cs typeface="Times New Roman" panose="02020603050405020304" pitchFamily="18" charset="0"/>
              </a:rPr>
              <a:t>1.   Existing System:</a:t>
            </a:r>
          </a:p>
          <a:p>
            <a:pPr marL="342900" indent="-342900" algn="l">
              <a:lnSpc>
                <a:spcPct val="150000"/>
              </a:lnSpc>
              <a:spcBef>
                <a:spcPts val="1200"/>
              </a:spcBef>
              <a:buFont typeface="Courier New" panose="02070309020205020404" pitchFamily="49" charset="0"/>
              <a:buChar char="o"/>
            </a:pPr>
            <a:r>
              <a:rPr lang="en-US" sz="22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Ticket booking is done manually at bus counters</a:t>
            </a:r>
          </a:p>
          <a:p>
            <a:pPr marL="342900" indent="-342900" algn="l">
              <a:lnSpc>
                <a:spcPct val="150000"/>
              </a:lnSpc>
              <a:spcBef>
                <a:spcPts val="1200"/>
              </a:spcBef>
              <a:buFont typeface="Courier New" panose="02070309020205020404" pitchFamily="49" charset="0"/>
              <a:buChar char="o"/>
            </a:pPr>
            <a:r>
              <a:rPr lang="en-US" sz="2200" dirty="0">
                <a:latin typeface="Times New Roman" panose="02020603050405020304" pitchFamily="18" charset="0"/>
                <a:cs typeface="Times New Roman" panose="02020603050405020304" pitchFamily="18" charset="0"/>
              </a:rPr>
              <a:t>  Time-consuming and inconvenient for passengers</a:t>
            </a:r>
          </a:p>
          <a:p>
            <a:pPr marL="342900" indent="-342900" algn="l">
              <a:lnSpc>
                <a:spcPct val="150000"/>
              </a:lnSpc>
              <a:spcBef>
                <a:spcPts val="1200"/>
              </a:spcBef>
              <a:buFont typeface="Courier New" panose="02070309020205020404" pitchFamily="49" charset="0"/>
              <a:buChar char="o"/>
            </a:pPr>
            <a:r>
              <a:rPr lang="en-US" sz="2200" dirty="0">
                <a:latin typeface="Times New Roman" panose="02020603050405020304" pitchFamily="18" charset="0"/>
                <a:cs typeface="Times New Roman" panose="02020603050405020304" pitchFamily="18" charset="0"/>
              </a:rPr>
              <a:t>  High chances of human errors in seat allocation</a:t>
            </a:r>
          </a:p>
          <a:p>
            <a:pPr marL="457200" indent="-457200" algn="l">
              <a:lnSpc>
                <a:spcPct val="150000"/>
              </a:lnSpc>
              <a:spcBef>
                <a:spcPts val="1200"/>
              </a:spcBef>
              <a:buAutoNum type="arabicPeriod" startAt="2"/>
            </a:pPr>
            <a:r>
              <a:rPr lang="en-US" sz="2200" b="1" dirty="0">
                <a:latin typeface="Times New Roman" panose="02020603050405020304" pitchFamily="18" charset="0"/>
                <a:cs typeface="Times New Roman" panose="02020603050405020304" pitchFamily="18" charset="0"/>
              </a:rPr>
              <a:t>Proposed System:</a:t>
            </a:r>
          </a:p>
          <a:p>
            <a:pPr marL="342900" indent="-342900" algn="l">
              <a:lnSpc>
                <a:spcPct val="150000"/>
              </a:lnSpc>
              <a:spcBef>
                <a:spcPts val="1200"/>
              </a:spcBef>
              <a:buFont typeface="Courier New" panose="02070309020205020404" pitchFamily="49" charset="0"/>
              <a:buChar char="o"/>
            </a:pPr>
            <a:r>
              <a:rPr lang="en-US" sz="2200" dirty="0">
                <a:latin typeface="Times New Roman" panose="02020603050405020304" pitchFamily="18" charset="0"/>
                <a:cs typeface="Times New Roman" panose="02020603050405020304" pitchFamily="18" charset="0"/>
              </a:rPr>
              <a:t>Online platform for easy ticket booking anytime</a:t>
            </a:r>
          </a:p>
          <a:p>
            <a:pPr marL="342900" indent="-342900" algn="l">
              <a:lnSpc>
                <a:spcPct val="150000"/>
              </a:lnSpc>
              <a:spcBef>
                <a:spcPts val="1200"/>
              </a:spcBef>
              <a:buFont typeface="Courier New" panose="02070309020205020404" pitchFamily="49" charset="0"/>
              <a:buChar char="o"/>
            </a:pPr>
            <a:r>
              <a:rPr lang="en-US" sz="2200" dirty="0">
                <a:latin typeface="Times New Roman" panose="02020603050405020304" pitchFamily="18" charset="0"/>
                <a:cs typeface="Times New Roman" panose="02020603050405020304" pitchFamily="18" charset="0"/>
              </a:rPr>
              <a:t>Real-time seat availability and instant confirmation</a:t>
            </a:r>
          </a:p>
          <a:p>
            <a:pPr marL="342900" indent="-342900" algn="l">
              <a:lnSpc>
                <a:spcPct val="150000"/>
              </a:lnSpc>
              <a:spcBef>
                <a:spcPts val="1200"/>
              </a:spcBef>
              <a:buFont typeface="Courier New" panose="02070309020205020404" pitchFamily="49" charset="0"/>
              <a:buChar char="o"/>
            </a:pPr>
            <a:r>
              <a:rPr lang="en-US" sz="2200" dirty="0">
                <a:latin typeface="Times New Roman" panose="02020603050405020304" pitchFamily="18" charset="0"/>
                <a:cs typeface="Times New Roman" panose="02020603050405020304" pitchFamily="18" charset="0"/>
              </a:rPr>
              <a:t>Secure login for users and administrators  </a:t>
            </a:r>
          </a:p>
          <a:p>
            <a:pPr marL="457200" indent="-457200" algn="just">
              <a:lnSpc>
                <a:spcPct val="150000"/>
              </a:lnSpc>
              <a:spcBef>
                <a:spcPts val="1200"/>
              </a:spcBef>
              <a:buFont typeface="Arial" panose="020B0604020202020204" pitchFamily="34" charset="0"/>
              <a:buChar char="•"/>
            </a:pPr>
            <a:endParaRPr lang="en-US" sz="2200" b="1" dirty="0">
              <a:latin typeface="Times New Roman" panose="02020603050405020304" pitchFamily="18" charset="0"/>
              <a:cs typeface="Times New Roman" panose="02020603050405020304" pitchFamily="18" charset="0"/>
            </a:endParaRPr>
          </a:p>
          <a:p>
            <a:pPr algn="just">
              <a:lnSpc>
                <a:spcPct val="150000"/>
              </a:lnSpc>
              <a:spcBef>
                <a:spcPts val="1200"/>
              </a:spcBef>
            </a:pPr>
            <a:endParaRPr lang="en-US" sz="2200" b="1" dirty="0">
              <a:latin typeface="Times New Roman" panose="02020603050405020304" pitchFamily="18" charset="0"/>
              <a:cs typeface="Times New Roman" panose="02020603050405020304" pitchFamily="18" charset="0"/>
            </a:endParaRPr>
          </a:p>
          <a:p>
            <a:pPr algn="just">
              <a:lnSpc>
                <a:spcPct val="150000"/>
              </a:lnSpc>
              <a:spcBef>
                <a:spcPts val="1200"/>
              </a:spcBef>
            </a:pPr>
            <a:endParaRPr lang="en-US" sz="2200" b="1" dirty="0">
              <a:latin typeface="Times New Roman" panose="02020603050405020304" pitchFamily="18" charset="0"/>
              <a:cs typeface="Times New Roman" panose="02020603050405020304" pitchFamily="18" charset="0"/>
            </a:endParaRPr>
          </a:p>
          <a:p>
            <a:pPr algn="just">
              <a:spcBef>
                <a:spcPts val="1200"/>
              </a:spcBef>
            </a:pPr>
            <a:endParaRPr lang="en-US" sz="2200"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886200" y="342558"/>
            <a:ext cx="5029200" cy="392415"/>
          </a:xfrm>
          <a:prstGeom prst="rect">
            <a:avLst/>
          </a:prstGeom>
          <a:noFill/>
        </p:spPr>
        <p:txBody>
          <a:bodyPr wrap="square">
            <a:spAutoFit/>
          </a:bodyPr>
          <a:lstStyle/>
          <a:p>
            <a:r>
              <a:rPr lang="en-IN" sz="1950" b="1" dirty="0">
                <a:solidFill>
                  <a:schemeClr val="tx1"/>
                </a:solidFill>
                <a:latin typeface="Times New Roman" panose="02020603050405020304" pitchFamily="18" charset="0"/>
                <a:cs typeface="Times New Roman" panose="02020603050405020304" pitchFamily="18" charset="0"/>
              </a:rPr>
              <a:t>System </a:t>
            </a:r>
            <a:r>
              <a:rPr lang="en-IN" sz="1950" b="1" dirty="0" err="1">
                <a:solidFill>
                  <a:schemeClr val="tx1"/>
                </a:solidFill>
                <a:latin typeface="Times New Roman" panose="02020603050405020304" pitchFamily="18" charset="0"/>
                <a:cs typeface="Times New Roman" panose="02020603050405020304" pitchFamily="18" charset="0"/>
              </a:rPr>
              <a:t>Reqiurements</a:t>
            </a:r>
            <a:r>
              <a:rPr lang="en-IN" sz="1950" b="1" dirty="0">
                <a:solidFill>
                  <a:schemeClr val="tx1"/>
                </a:solidFill>
                <a:latin typeface="Times New Roman" panose="02020603050405020304" pitchFamily="18" charset="0"/>
                <a:cs typeface="Times New Roman" panose="02020603050405020304" pitchFamily="18" charset="0"/>
              </a:rPr>
              <a:t> </a:t>
            </a:r>
          </a:p>
        </p:txBody>
      </p:sp>
      <p:sp>
        <p:nvSpPr>
          <p:cNvPr id="16" name="TextBox 15">
            <a:extLst>
              <a:ext uri="{FF2B5EF4-FFF2-40B4-BE49-F238E27FC236}">
                <a16:creationId xmlns:a16="http://schemas.microsoft.com/office/drawing/2014/main" id="{85EA2366-D5A3-7AD8-E7B4-472C3227ADC8}"/>
              </a:ext>
            </a:extLst>
          </p:cNvPr>
          <p:cNvSpPr txBox="1"/>
          <p:nvPr/>
        </p:nvSpPr>
        <p:spPr>
          <a:xfrm>
            <a:off x="609600" y="961085"/>
            <a:ext cx="8839200" cy="7879849"/>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Hardware Requirements</a:t>
            </a:r>
          </a:p>
          <a:p>
            <a:pPr marL="171450" indent="-171450">
              <a:lnSpc>
                <a:spcPct val="150000"/>
              </a:lnSpc>
              <a:buFont typeface="Wingdings" pitchFamily="2" charset="2"/>
              <a:buChar char="q"/>
            </a:pPr>
            <a:r>
              <a:rPr lang="en-IN" sz="2000" dirty="0">
                <a:latin typeface="Times New Roman" panose="02020603050405020304" pitchFamily="18" charset="0"/>
                <a:cs typeface="Times New Roman" panose="02020603050405020304" pitchFamily="18" charset="0"/>
              </a:rPr>
              <a:t>  Processor : Intel Core i3 or higher</a:t>
            </a:r>
          </a:p>
          <a:p>
            <a:pPr marL="171450" indent="-171450">
              <a:lnSpc>
                <a:spcPct val="150000"/>
              </a:lnSpc>
              <a:buFont typeface="Wingdings" pitchFamily="2" charset="2"/>
              <a:buChar char="q"/>
            </a:pPr>
            <a:r>
              <a:rPr lang="en-IN" sz="2000" dirty="0">
                <a:latin typeface="Times New Roman" panose="02020603050405020304" pitchFamily="18" charset="0"/>
                <a:cs typeface="Times New Roman" panose="02020603050405020304" pitchFamily="18" charset="0"/>
              </a:rPr>
              <a:t>  RAM : Minimum 4 GB (8 GB recommended)</a:t>
            </a:r>
          </a:p>
          <a:p>
            <a:pPr marL="171450" indent="-171450">
              <a:lnSpc>
                <a:spcPct val="150000"/>
              </a:lnSpc>
              <a:buFont typeface="Wingdings" pitchFamily="2" charset="2"/>
              <a:buChar char="q"/>
            </a:pPr>
            <a:r>
              <a:rPr lang="en-IN" sz="2000" dirty="0">
                <a:latin typeface="Times New Roman" panose="02020603050405020304" pitchFamily="18" charset="0"/>
                <a:cs typeface="Times New Roman" panose="02020603050405020304" pitchFamily="18" charset="0"/>
              </a:rPr>
              <a:t>  Hard Disk : Minimum 500 GB</a:t>
            </a:r>
          </a:p>
          <a:p>
            <a:pPr marL="171450" indent="-171450">
              <a:lnSpc>
                <a:spcPct val="150000"/>
              </a:lnSpc>
              <a:buFont typeface="Wingdings" pitchFamily="2" charset="2"/>
              <a:buChar char="q"/>
            </a:pPr>
            <a:r>
              <a:rPr lang="en-IN" sz="2000" dirty="0">
                <a:latin typeface="Times New Roman" panose="02020603050405020304" pitchFamily="18" charset="0"/>
                <a:cs typeface="Times New Roman" panose="02020603050405020304" pitchFamily="18" charset="0"/>
              </a:rPr>
              <a:t>  Monitor : Standard display (1366 × 768 resolution or higher)</a:t>
            </a:r>
          </a:p>
          <a:p>
            <a:pPr marL="171450" indent="-171450">
              <a:lnSpc>
                <a:spcPct val="150000"/>
              </a:lnSpc>
              <a:buFont typeface="Wingdings" pitchFamily="2" charset="2"/>
              <a:buChar char="q"/>
            </a:pPr>
            <a:r>
              <a:rPr lang="en-IN" sz="2000" dirty="0">
                <a:latin typeface="Times New Roman" panose="02020603050405020304" pitchFamily="18" charset="0"/>
                <a:cs typeface="Times New Roman" panose="02020603050405020304" pitchFamily="18" charset="0"/>
              </a:rPr>
              <a:t>  Keyboard &amp; Mouse : Required for user interaction</a:t>
            </a:r>
          </a:p>
          <a:p>
            <a:pPr marL="171450" indent="-171450">
              <a:lnSpc>
                <a:spcPct val="150000"/>
              </a:lnSpc>
              <a:buFont typeface="Wingdings" pitchFamily="2" charset="2"/>
              <a:buChar char="q"/>
            </a:pPr>
            <a:r>
              <a:rPr lang="en-IN" sz="2000" dirty="0">
                <a:latin typeface="Times New Roman" panose="02020603050405020304" pitchFamily="18" charset="0"/>
                <a:cs typeface="Times New Roman" panose="02020603050405020304" pitchFamily="18" charset="0"/>
              </a:rPr>
              <a:t>  Internet Connection : Required for online booking and database </a:t>
            </a:r>
          </a:p>
          <a:p>
            <a:pPr>
              <a:lnSpc>
                <a:spcPct val="150000"/>
              </a:lnSpc>
            </a:pPr>
            <a:r>
              <a:rPr lang="en-IN" sz="2200" b="1" dirty="0">
                <a:latin typeface="Times New Roman" panose="02020603050405020304" pitchFamily="18" charset="0"/>
                <a:cs typeface="Times New Roman" panose="02020603050405020304" pitchFamily="18" charset="0"/>
              </a:rPr>
              <a:t>Software Requirements</a:t>
            </a:r>
          </a:p>
          <a:p>
            <a:pPr marL="342900" indent="-342900">
              <a:lnSpc>
                <a:spcPct val="150000"/>
              </a:lnSpc>
              <a:buFont typeface="Wingdings" pitchFamily="2" charset="2"/>
              <a:buChar char="q"/>
            </a:pPr>
            <a:r>
              <a:rPr lang="en-IN" sz="2200" dirty="0">
                <a:latin typeface="Times New Roman" panose="02020603050405020304" pitchFamily="18" charset="0"/>
                <a:cs typeface="Times New Roman" panose="02020603050405020304" pitchFamily="18" charset="0"/>
              </a:rPr>
              <a:t>Operating System : Windows 10/11 or Linux</a:t>
            </a:r>
          </a:p>
          <a:p>
            <a:pPr marL="342900" indent="-342900">
              <a:lnSpc>
                <a:spcPct val="150000"/>
              </a:lnSpc>
              <a:buFont typeface="Wingdings" pitchFamily="2" charset="2"/>
              <a:buChar char="q"/>
            </a:pPr>
            <a:r>
              <a:rPr lang="en-IN" sz="2200" dirty="0">
                <a:latin typeface="Times New Roman" panose="02020603050405020304" pitchFamily="18" charset="0"/>
                <a:cs typeface="Times New Roman" panose="02020603050405020304" pitchFamily="18" charset="0"/>
              </a:rPr>
              <a:t>Programming Language : Java</a:t>
            </a:r>
          </a:p>
          <a:p>
            <a:pPr marL="342900" indent="-342900">
              <a:lnSpc>
                <a:spcPct val="150000"/>
              </a:lnSpc>
              <a:buFont typeface="Wingdings" pitchFamily="2" charset="2"/>
              <a:buChar char="q"/>
            </a:pPr>
            <a:r>
              <a:rPr lang="en-IN" sz="2200" dirty="0">
                <a:latin typeface="Times New Roman" panose="02020603050405020304" pitchFamily="18" charset="0"/>
                <a:cs typeface="Times New Roman" panose="02020603050405020304" pitchFamily="18" charset="0"/>
              </a:rPr>
              <a:t>Database : Oracle Database / MySQL</a:t>
            </a:r>
          </a:p>
          <a:p>
            <a:pPr marL="342900" indent="-342900">
              <a:lnSpc>
                <a:spcPct val="150000"/>
              </a:lnSpc>
              <a:buFont typeface="Wingdings" pitchFamily="2" charset="2"/>
              <a:buChar char="q"/>
            </a:pPr>
            <a:r>
              <a:rPr lang="en-IN" sz="2200" dirty="0">
                <a:latin typeface="Times New Roman" panose="02020603050405020304" pitchFamily="18" charset="0"/>
                <a:cs typeface="Times New Roman" panose="02020603050405020304" pitchFamily="18" charset="0"/>
              </a:rPr>
              <a:t>Connectivity : JDBC (Java Database Connectivity)</a:t>
            </a:r>
          </a:p>
          <a:p>
            <a:pPr marL="342900" indent="-342900">
              <a:lnSpc>
                <a:spcPct val="150000"/>
              </a:lnSpc>
              <a:buFont typeface="Wingdings" pitchFamily="2" charset="2"/>
              <a:buChar char="q"/>
            </a:pPr>
            <a:r>
              <a:rPr lang="en-IN" sz="2200" dirty="0">
                <a:latin typeface="Times New Roman" panose="02020603050405020304" pitchFamily="18" charset="0"/>
                <a:cs typeface="Times New Roman" panose="02020603050405020304" pitchFamily="18" charset="0"/>
              </a:rPr>
              <a:t>IDE : Eclipse / IntelliJ IDEA / NetBeans</a:t>
            </a:r>
          </a:p>
          <a:p>
            <a:pPr marL="342900" indent="-342900">
              <a:lnSpc>
                <a:spcPct val="150000"/>
              </a:lnSpc>
              <a:buFont typeface="Wingdings" pitchFamily="2" charset="2"/>
              <a:buChar char="q"/>
            </a:pPr>
            <a:r>
              <a:rPr lang="en-IN" sz="2200" dirty="0">
                <a:latin typeface="Times New Roman" panose="02020603050405020304" pitchFamily="18" charset="0"/>
                <a:cs typeface="Times New Roman" panose="02020603050405020304" pitchFamily="18" charset="0"/>
              </a:rPr>
              <a:t>Web Technologies (Optional) : HTML, CSS, JavaScript</a:t>
            </a:r>
          </a:p>
          <a:p>
            <a:pPr>
              <a:lnSpc>
                <a:spcPct val="150000"/>
              </a:lnSpc>
            </a:pPr>
            <a:endParaRPr lang="en-IN" sz="2200" b="1" dirty="0">
              <a:latin typeface="Times New Roman" panose="02020603050405020304" pitchFamily="18" charset="0"/>
              <a:cs typeface="Times New Roman" panose="02020603050405020304" pitchFamily="18" charset="0"/>
            </a:endParaRPr>
          </a:p>
          <a:p>
            <a:pPr marL="342900" indent="-342900">
              <a:lnSpc>
                <a:spcPct val="150000"/>
              </a:lnSpc>
              <a:buFont typeface="Wingdings" pitchFamily="2" charset="2"/>
              <a:buChar char="q"/>
            </a:pPr>
            <a:endParaRPr lang="en-IN" sz="2200" b="1"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272052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3C03A-992A-CEAD-5FB8-686527824E66}"/>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EA7C8F04-95CA-C1E0-BFA2-4BFACD89E6B8}"/>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989C992-155F-6A68-0B08-3B39FFBAA62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D031E1F9-FB82-922E-C796-97077F94E70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8EAA2CC3-9696-811E-B5BE-5C1848177706}"/>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F65D09F8-C17C-F03E-88B8-4942A39F209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65154CDE-FB1D-92DB-77E9-9CDAB77B883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5E89CD20-90CB-480C-A4EB-EC7405BED441}"/>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4CDD3B24-C6E3-C570-0D11-D85BD4A44819}"/>
              </a:ext>
            </a:extLst>
          </p:cNvPr>
          <p:cNvSpPr txBox="1"/>
          <p:nvPr/>
        </p:nvSpPr>
        <p:spPr>
          <a:xfrm>
            <a:off x="458204" y="1114482"/>
            <a:ext cx="9141991" cy="1200329"/>
          </a:xfrm>
          <a:prstGeom prst="rect">
            <a:avLst/>
          </a:prstGeom>
          <a:noFill/>
        </p:spPr>
        <p:txBody>
          <a:bodyPr wrap="square" rtlCol="0">
            <a:spAutoFit/>
          </a:bodyPr>
          <a:lstStyle/>
          <a:p>
            <a:endParaRPr lang="en-IN" dirty="0"/>
          </a:p>
          <a:p>
            <a:endParaRPr lang="en-IN" dirty="0"/>
          </a:p>
          <a:p>
            <a:endParaRPr lang="en-IN" dirty="0"/>
          </a:p>
          <a:p>
            <a:endParaRPr lang="en-IN" dirty="0"/>
          </a:p>
        </p:txBody>
      </p:sp>
      <p:sp>
        <p:nvSpPr>
          <p:cNvPr id="4" name="Rectangle 3">
            <a:extLst>
              <a:ext uri="{FF2B5EF4-FFF2-40B4-BE49-F238E27FC236}">
                <a16:creationId xmlns:a16="http://schemas.microsoft.com/office/drawing/2014/main" id="{FFAE4D00-26B5-6483-3960-926C77E2E34F}"/>
              </a:ext>
            </a:extLst>
          </p:cNvPr>
          <p:cNvSpPr>
            <a:spLocks noChangeArrowheads="1"/>
          </p:cNvSpPr>
          <p:nvPr/>
        </p:nvSpPr>
        <p:spPr bwMode="auto">
          <a:xfrm>
            <a:off x="285658" y="1754593"/>
            <a:ext cx="9141991" cy="5991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algn="l" defTabSz="914400" rtl="0" eaLnBrk="0" fontAlgn="base" latinLnBrk="0" hangingPunct="0">
              <a:lnSpc>
                <a:spcPct val="100000"/>
              </a:lnSpc>
              <a:spcBef>
                <a:spcPct val="0"/>
              </a:spcBef>
              <a:spcAft>
                <a:spcPts val="500"/>
              </a:spcAft>
              <a:buClrTx/>
              <a:buSzPct val="100000"/>
              <a:tabLst/>
            </a:pPr>
            <a:r>
              <a:rPr lang="en-US" altLang="en-US" sz="2400" dirty="0">
                <a:latin typeface="Times New Roman" panose="02020603050405020304" pitchFamily="18" charset="0"/>
                <a:cs typeface="Times New Roman" panose="02020603050405020304" pitchFamily="18" charset="0"/>
              </a:rPr>
              <a:t>Database design defines how data is organized, stored, and managed in the system. The Online Bus Booking System Uses a relational database.</a:t>
            </a:r>
          </a:p>
          <a:p>
            <a:pPr marL="342900" marR="0" lvl="0" algn="l" defTabSz="914400" rtl="0" eaLnBrk="0" fontAlgn="base" latinLnBrk="0" hangingPunct="0">
              <a:lnSpc>
                <a:spcPct val="100000"/>
              </a:lnSpc>
              <a:spcBef>
                <a:spcPct val="0"/>
              </a:spcBef>
              <a:spcAft>
                <a:spcPts val="500"/>
              </a:spcAft>
              <a:buClrTx/>
              <a:buSzPct val="100000"/>
              <a:tabLst/>
            </a:pPr>
            <a:r>
              <a:rPr lang="en-US" altLang="en-US" sz="2400" dirty="0">
                <a:latin typeface="Times New Roman" panose="02020603050405020304" pitchFamily="18" charset="0"/>
                <a:cs typeface="Times New Roman" panose="02020603050405020304" pitchFamily="18" charset="0"/>
              </a:rPr>
              <a:t>The database consists of Two main collections:</a:t>
            </a:r>
          </a:p>
          <a:p>
            <a:pPr marR="0" lvl="0" algn="l" defTabSz="914400" rtl="0" eaLnBrk="0" fontAlgn="base" latinLnBrk="0" hangingPunct="0">
              <a:lnSpc>
                <a:spcPct val="100000"/>
              </a:lnSpc>
              <a:spcBef>
                <a:spcPct val="0"/>
              </a:spcBef>
              <a:spcAft>
                <a:spcPct val="0"/>
              </a:spcAft>
              <a:buClrTx/>
              <a:buSzTx/>
              <a:tabLst/>
            </a:pPr>
            <a:r>
              <a:rPr lang="en-US" altLang="en-US" dirty="0">
                <a:solidFill>
                  <a:schemeClr val="tx1"/>
                </a:solidFill>
                <a:latin typeface="Arial" panose="020B0604020202020204" pitchFamily="34" charset="0"/>
              </a:rPr>
              <a:t> </a:t>
            </a:r>
            <a:r>
              <a:rPr lang="en-US" altLang="en-US" b="1" dirty="0">
                <a:solidFill>
                  <a:schemeClr val="tx1"/>
                </a:solidFill>
                <a:latin typeface="Arial" panose="020B0604020202020204" pitchFamily="34" charset="0"/>
              </a:rPr>
              <a:t>1. </a:t>
            </a:r>
            <a:r>
              <a:rPr lang="en-US" altLang="en-US" sz="2400" b="1" dirty="0">
                <a:solidFill>
                  <a:schemeClr val="tx1"/>
                </a:solidFill>
                <a:latin typeface="Times New Roman" panose="02020603050405020304" pitchFamily="18" charset="0"/>
                <a:cs typeface="Times New Roman" panose="02020603050405020304" pitchFamily="18" charset="0"/>
              </a:rPr>
              <a:t>Conceptual Database Design:</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q"/>
              <a:tabLst/>
            </a:pPr>
            <a:r>
              <a:rPr lang="en-US" altLang="en-US" sz="2400" dirty="0">
                <a:solidFill>
                  <a:schemeClr val="tx1"/>
                </a:solidFill>
                <a:latin typeface="Arial" panose="020B0604020202020204" pitchFamily="34" charset="0"/>
              </a:rPr>
              <a:t>  </a:t>
            </a:r>
            <a:r>
              <a:rPr lang="en-US" altLang="en-US" sz="2200" dirty="0">
                <a:solidFill>
                  <a:schemeClr val="tx1"/>
                </a:solidFill>
                <a:latin typeface="Times New Roman" panose="02020603050405020304" pitchFamily="18" charset="0"/>
                <a:cs typeface="Times New Roman" panose="02020603050405020304" pitchFamily="18" charset="0"/>
              </a:rPr>
              <a:t>High-level design of the system</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q"/>
              <a:tabLst/>
            </a:pPr>
            <a:r>
              <a:rPr lang="en-US" altLang="en-US" sz="2200" dirty="0">
                <a:solidFill>
                  <a:schemeClr val="tx1"/>
                </a:solidFill>
                <a:latin typeface="Times New Roman" panose="02020603050405020304" pitchFamily="18" charset="0"/>
                <a:cs typeface="Times New Roman" panose="02020603050405020304" pitchFamily="18" charset="0"/>
              </a:rPr>
              <a:t>  Focuses on what data is needed</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q"/>
              <a:tabLst/>
            </a:pPr>
            <a:r>
              <a:rPr lang="en-US" altLang="en-US" sz="2200" dirty="0">
                <a:solidFill>
                  <a:schemeClr val="tx1"/>
                </a:solidFill>
                <a:latin typeface="Times New Roman" panose="02020603050405020304" pitchFamily="18" charset="0"/>
                <a:cs typeface="Times New Roman" panose="02020603050405020304" pitchFamily="18" charset="0"/>
              </a:rPr>
              <a:t>  Uses ER (Entity-Relationship) diagrams</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q"/>
              <a:tabLst/>
            </a:pPr>
            <a:r>
              <a:rPr lang="en-US" altLang="en-US" sz="2200" dirty="0">
                <a:solidFill>
                  <a:schemeClr val="tx1"/>
                </a:solidFill>
                <a:latin typeface="Times New Roman" panose="02020603050405020304" pitchFamily="18" charset="0"/>
                <a:cs typeface="Times New Roman" panose="02020603050405020304" pitchFamily="18" charset="0"/>
              </a:rPr>
              <a:t>  Defines entities (User, Bus, Booking) and relationships</a:t>
            </a:r>
          </a:p>
          <a:p>
            <a:pPr marR="0" lvl="0" algn="l" defTabSz="914400" rtl="0" eaLnBrk="0" fontAlgn="base" latinLnBrk="0" hangingPunct="0">
              <a:lnSpc>
                <a:spcPct val="100000"/>
              </a:lnSpc>
              <a:spcBef>
                <a:spcPct val="0"/>
              </a:spcBef>
              <a:spcAft>
                <a:spcPct val="0"/>
              </a:spcAft>
              <a:buClrTx/>
              <a:buSzTx/>
              <a:tabLst/>
            </a:pPr>
            <a:r>
              <a:rPr lang="en-US" altLang="en-US" sz="2400" b="1" dirty="0">
                <a:solidFill>
                  <a:schemeClr val="tx1"/>
                </a:solidFill>
                <a:latin typeface="Times New Roman" panose="02020603050405020304" pitchFamily="18" charset="0"/>
                <a:cs typeface="Times New Roman" panose="02020603050405020304" pitchFamily="18" charset="0"/>
              </a:rPr>
              <a:t>2. Logical Database Design</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q"/>
              <a:tabLst/>
            </a:pPr>
            <a:r>
              <a:rPr lang="en-US" altLang="en-US" sz="2400" dirty="0">
                <a:solidFill>
                  <a:schemeClr val="tx1"/>
                </a:solidFill>
                <a:latin typeface="Arial" panose="020B0604020202020204" pitchFamily="34" charset="0"/>
              </a:rPr>
              <a:t>  </a:t>
            </a:r>
            <a:r>
              <a:rPr lang="en-US" altLang="en-US" sz="2200" dirty="0">
                <a:solidFill>
                  <a:schemeClr val="tx1"/>
                </a:solidFill>
                <a:latin typeface="Times New Roman" panose="02020603050405020304" pitchFamily="18" charset="0"/>
                <a:cs typeface="Times New Roman" panose="02020603050405020304" pitchFamily="18" charset="0"/>
              </a:rPr>
              <a:t>Converts conceptual design into structured format</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q"/>
              <a:tabLst/>
            </a:pPr>
            <a:r>
              <a:rPr lang="en-US" altLang="en-US" sz="2200" dirty="0">
                <a:solidFill>
                  <a:schemeClr val="tx1"/>
                </a:solidFill>
                <a:latin typeface="Times New Roman" panose="02020603050405020304" pitchFamily="18" charset="0"/>
                <a:cs typeface="Times New Roman" panose="02020603050405020304" pitchFamily="18" charset="0"/>
              </a:rPr>
              <a:t>  Focuses on how data is organized</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q"/>
              <a:tabLst/>
            </a:pPr>
            <a:r>
              <a:rPr lang="en-US" altLang="en-US" sz="2200" dirty="0">
                <a:solidFill>
                  <a:schemeClr val="tx1"/>
                </a:solidFill>
                <a:latin typeface="Times New Roman" panose="02020603050405020304" pitchFamily="18" charset="0"/>
                <a:cs typeface="Times New Roman" panose="02020603050405020304" pitchFamily="18" charset="0"/>
              </a:rPr>
              <a:t>  Defines tables, attributes, primary keys, foreign keys</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q"/>
              <a:tabLst/>
            </a:pPr>
            <a:r>
              <a:rPr lang="en-US" altLang="en-US" sz="2200" dirty="0">
                <a:solidFill>
                  <a:schemeClr val="tx1"/>
                </a:solidFill>
                <a:latin typeface="Times New Roman" panose="02020603050405020304" pitchFamily="18" charset="0"/>
                <a:cs typeface="Times New Roman" panose="02020603050405020304" pitchFamily="18" charset="0"/>
              </a:rPr>
              <a:t>  Independent of DBMS (not tied to Oracle/MySQL)</a:t>
            </a:r>
          </a:p>
          <a:p>
            <a:pPr marR="0" lvl="0" algn="l" defTabSz="914400" rtl="0" eaLnBrk="0" fontAlgn="base" latinLnBrk="0" hangingPunct="0">
              <a:lnSpc>
                <a:spcPct val="100000"/>
              </a:lnSpc>
              <a:spcBef>
                <a:spcPct val="0"/>
              </a:spcBef>
              <a:spcAft>
                <a:spcPct val="0"/>
              </a:spcAft>
              <a:buClrTx/>
              <a:buSzTx/>
              <a:tabLst/>
            </a:pPr>
            <a:endParaRPr lang="en-US" altLang="en-US" sz="2400"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q"/>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91828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440B4-B462-F22D-0950-B6710CF9EA51}"/>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4A9BBA5-9A38-1657-0653-14EC0D3B9CE4}"/>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6656BA03-D3A4-CDEA-202C-38C81F635B72}"/>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4C109C39-054A-E81F-70B9-386F94A44C3C}"/>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1533A0EA-DA31-1EB6-ADF3-083AD01A4E8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E8E014C-4F7F-C10B-D153-7578A6AE564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5ECF7B6-4D35-5116-1FBA-A710C58C5A84}"/>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98FBF8DD-4922-6047-5E1A-EAFBB22DFB9B}"/>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DB0D226A-4905-9A23-644C-CE3991C38936}"/>
              </a:ext>
            </a:extLst>
          </p:cNvPr>
          <p:cNvSpPr txBox="1"/>
          <p:nvPr/>
        </p:nvSpPr>
        <p:spPr>
          <a:xfrm>
            <a:off x="152400" y="1398699"/>
            <a:ext cx="8366948" cy="1728678"/>
          </a:xfrm>
          <a:prstGeom prst="rect">
            <a:avLst/>
          </a:prstGeom>
          <a:noFill/>
        </p:spPr>
        <p:txBody>
          <a:bodyPr wrap="square">
            <a:spAutoFit/>
          </a:bodyPr>
          <a:lstStyle/>
          <a:p>
            <a:pPr marL="342900" algn="l" rtl="0" eaLnBrk="0" fontAlgn="base" hangingPunct="0">
              <a:spcBef>
                <a:spcPct val="0"/>
              </a:spcBef>
              <a:spcAft>
                <a:spcPts val="500"/>
              </a:spcAft>
              <a:buSzPct val="100000"/>
            </a:pPr>
            <a:r>
              <a:rPr lang="en-IN" sz="2200" b="1" dirty="0">
                <a:latin typeface="Times New Roman" panose="02020603050405020304" pitchFamily="18" charset="0"/>
                <a:cs typeface="Times New Roman" panose="02020603050405020304" pitchFamily="18" charset="0"/>
              </a:rPr>
              <a:t>User Collection Structure :</a:t>
            </a:r>
          </a:p>
          <a:p>
            <a:pPr marL="685800" indent="-342900" algn="l" rtl="0" eaLnBrk="0" fontAlgn="base" hangingPunct="0">
              <a:spcBef>
                <a:spcPct val="0"/>
              </a:spcBef>
              <a:spcAft>
                <a:spcPts val="500"/>
              </a:spcAft>
              <a:buSzPct val="1000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Stores Login user id and admin password of each of the admi</a:t>
            </a:r>
            <a:r>
              <a:rPr lang="en-US" dirty="0"/>
              <a:t>n.</a:t>
            </a:r>
          </a:p>
          <a:p>
            <a:pPr algn="l"/>
            <a:endParaRPr lang="en-US" b="1" dirty="0"/>
          </a:p>
          <a:p>
            <a:pPr algn="l"/>
            <a:endParaRPr lang="en-US" b="1" dirty="0"/>
          </a:p>
          <a:p>
            <a:pPr algn="l"/>
            <a:endParaRPr lang="en-IN" b="1" dirty="0"/>
          </a:p>
        </p:txBody>
      </p:sp>
      <p:pic>
        <p:nvPicPr>
          <p:cNvPr id="3" name="Picture 2" descr="A table with text on it&#10;&#10;AI-generated content may be incorrect.">
            <a:extLst>
              <a:ext uri="{FF2B5EF4-FFF2-40B4-BE49-F238E27FC236}">
                <a16:creationId xmlns:a16="http://schemas.microsoft.com/office/drawing/2014/main" id="{06480D51-A65D-84A4-7571-7290FB22BD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87026" y="2473324"/>
            <a:ext cx="7884348" cy="4343400"/>
          </a:xfrm>
          <a:prstGeom prst="rect">
            <a:avLst/>
          </a:prstGeom>
        </p:spPr>
      </p:pic>
    </p:spTree>
    <p:extLst>
      <p:ext uri="{BB962C8B-B14F-4D97-AF65-F5344CB8AC3E}">
        <p14:creationId xmlns:p14="http://schemas.microsoft.com/office/powerpoint/2010/main" val="2565870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AF869-60E9-7283-1E5C-031B97BB287B}"/>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22CCC8F-8AC9-DA04-7DF6-792709DB8A6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D3CC7CDE-C0AA-8C40-F47A-6BB38775C79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251A7B03-12DB-BDB0-A823-3B5CC5C3EA9D}"/>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34C3D95F-A98E-C662-A8CA-7C226092743B}"/>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51ECD6EB-B411-BAC9-D612-83CAADD7C06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5340093-ADC0-C519-A46D-D43188C5189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EC0178A3-A864-AC29-8239-3EE3EEC824D7}"/>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BE4EB3E5-F5F4-BFDA-2030-B081D8DD8B72}"/>
              </a:ext>
            </a:extLst>
          </p:cNvPr>
          <p:cNvSpPr txBox="1"/>
          <p:nvPr/>
        </p:nvSpPr>
        <p:spPr>
          <a:xfrm>
            <a:off x="559444" y="1112887"/>
            <a:ext cx="8686800" cy="723275"/>
          </a:xfrm>
          <a:prstGeom prst="rect">
            <a:avLst/>
          </a:prstGeom>
          <a:noFill/>
        </p:spPr>
        <p:txBody>
          <a:bodyPr wrap="square">
            <a:spAutoFit/>
          </a:bodyPr>
          <a:lstStyle/>
          <a:p>
            <a:r>
              <a:rPr lang="en-IN" sz="1900" b="1" dirty="0">
                <a:latin typeface="Times New Roman" panose="02020603050405020304" pitchFamily="18" charset="0"/>
                <a:cs typeface="Times New Roman" panose="02020603050405020304" pitchFamily="18" charset="0"/>
              </a:rPr>
              <a:t>Projects Collection Structure:</a:t>
            </a:r>
          </a:p>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Stores the project details according to the table</a:t>
            </a:r>
            <a:endParaRPr lang="en-IN" sz="22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5F77B7AB-5475-E5FF-6CA3-D729E4D9E4A2}"/>
              </a:ext>
            </a:extLst>
          </p:cNvPr>
          <p:cNvPicPr>
            <a:picLocks noChangeAspect="1"/>
          </p:cNvPicPr>
          <p:nvPr/>
        </p:nvPicPr>
        <p:blipFill>
          <a:blip r:embed="rId7"/>
          <a:stretch>
            <a:fillRect/>
          </a:stretch>
        </p:blipFill>
        <p:spPr>
          <a:xfrm>
            <a:off x="1457710" y="2351067"/>
            <a:ext cx="6890269" cy="5188501"/>
          </a:xfrm>
          <a:prstGeom prst="rect">
            <a:avLst/>
          </a:prstGeom>
        </p:spPr>
      </p:pic>
    </p:spTree>
    <p:extLst>
      <p:ext uri="{BB962C8B-B14F-4D97-AF65-F5344CB8AC3E}">
        <p14:creationId xmlns:p14="http://schemas.microsoft.com/office/powerpoint/2010/main" val="1096694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object 3">
            <a:extLst>
              <a:ext uri="{FF2B5EF4-FFF2-40B4-BE49-F238E27FC236}">
                <a16:creationId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3953B3A5-B246-55AD-515B-436ED9F0D042}"/>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DESIGN</a:t>
            </a:r>
          </a:p>
        </p:txBody>
      </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4" name="Text 2">
            <a:extLst>
              <a:ext uri="{FF2B5EF4-FFF2-40B4-BE49-F238E27FC236}">
                <a16:creationId xmlns:a16="http://schemas.microsoft.com/office/drawing/2014/main" id="{6ACC43C4-9EA7-DA1B-A3B8-6F0073A23425}"/>
              </a:ext>
            </a:extLst>
          </p:cNvPr>
          <p:cNvSpPr/>
          <p:nvPr/>
        </p:nvSpPr>
        <p:spPr>
          <a:xfrm>
            <a:off x="556839" y="760253"/>
            <a:ext cx="9044361" cy="938023"/>
          </a:xfrm>
          <a:prstGeom prst="rect">
            <a:avLst/>
          </a:prstGeom>
          <a:noFill/>
          <a:ln/>
        </p:spPr>
        <p:txBody>
          <a:bodyPr wrap="square" rtlCol="0" anchor="ctr"/>
          <a:lstStyle/>
          <a:p>
            <a:pPr marL="0" indent="0">
              <a:buNone/>
            </a:pPr>
            <a:r>
              <a:rPr lang="en-US" sz="2200" dirty="0"/>
              <a:t>Architecture Design:</a:t>
            </a:r>
          </a:p>
        </p:txBody>
      </p:sp>
      <p:sp>
        <p:nvSpPr>
          <p:cNvPr id="24" name="Text 3">
            <a:extLst>
              <a:ext uri="{FF2B5EF4-FFF2-40B4-BE49-F238E27FC236}">
                <a16:creationId xmlns:a16="http://schemas.microsoft.com/office/drawing/2014/main" id="{2E08A2BF-4489-70C8-4748-E44506E9C1EE}"/>
              </a:ext>
            </a:extLst>
          </p:cNvPr>
          <p:cNvSpPr/>
          <p:nvPr/>
        </p:nvSpPr>
        <p:spPr>
          <a:xfrm>
            <a:off x="565528" y="1320119"/>
            <a:ext cx="8769583" cy="563546"/>
          </a:xfrm>
          <a:prstGeom prst="rect">
            <a:avLst/>
          </a:prstGeom>
          <a:noFill/>
          <a:ln/>
        </p:spPr>
        <p:txBody>
          <a:bodyPr wrap="square" rtlCol="0" anchor="ctr"/>
          <a:lstStyle/>
          <a:p>
            <a:pPr marL="0" indent="0">
              <a:buNone/>
            </a:pPr>
            <a:r>
              <a:rPr lang="en-US" sz="2000" dirty="0"/>
              <a:t>Follows 2-Tier Architecture</a:t>
            </a:r>
          </a:p>
        </p:txBody>
      </p:sp>
      <p:sp>
        <p:nvSpPr>
          <p:cNvPr id="25" name="Text 4">
            <a:extLst>
              <a:ext uri="{FF2B5EF4-FFF2-40B4-BE49-F238E27FC236}">
                <a16:creationId xmlns:a16="http://schemas.microsoft.com/office/drawing/2014/main" id="{CAA30A44-CC52-172B-FF22-96463FAC8BA4}"/>
              </a:ext>
            </a:extLst>
          </p:cNvPr>
          <p:cNvSpPr/>
          <p:nvPr/>
        </p:nvSpPr>
        <p:spPr>
          <a:xfrm>
            <a:off x="565528" y="2258141"/>
            <a:ext cx="12236072" cy="2345805"/>
          </a:xfrm>
          <a:prstGeom prst="rect">
            <a:avLst/>
          </a:prstGeom>
          <a:noFill/>
          <a:ln/>
        </p:spPr>
        <p:txBody>
          <a:bodyPr wrap="square" rtlCol="0" anchor="ctr"/>
          <a:lstStyle/>
          <a:p>
            <a:r>
              <a:rPr lang="en-US" sz="2000" b="1" dirty="0">
                <a:solidFill>
                  <a:srgbClr val="17375E"/>
                </a:solidFill>
                <a:latin typeface="Times New Roman" pitchFamily="34" charset="0"/>
                <a:ea typeface="Times New Roman" pitchFamily="34" charset="-122"/>
                <a:cs typeface="Times New Roman" pitchFamily="34" charset="-120"/>
              </a:rPr>
              <a:t>1. Data Flow Design</a:t>
            </a:r>
          </a:p>
          <a:p>
            <a:r>
              <a:rPr lang="en-US" sz="2000" b="1" dirty="0">
                <a:solidFill>
                  <a:srgbClr val="17375E"/>
                </a:solidFill>
                <a:latin typeface="Times New Roman" pitchFamily="34" charset="0"/>
                <a:ea typeface="Times New Roman" pitchFamily="34" charset="-122"/>
                <a:cs typeface="Times New Roman" pitchFamily="34" charset="-120"/>
              </a:rPr>
              <a:t>	•	User enters search details (source, destination, date)</a:t>
            </a:r>
          </a:p>
          <a:p>
            <a:r>
              <a:rPr lang="en-US" sz="2000" b="1" dirty="0">
                <a:solidFill>
                  <a:srgbClr val="17375E"/>
                </a:solidFill>
                <a:latin typeface="Times New Roman" pitchFamily="34" charset="0"/>
                <a:ea typeface="Times New Roman" pitchFamily="34" charset="-122"/>
                <a:cs typeface="Times New Roman" pitchFamily="34" charset="-120"/>
              </a:rPr>
              <a:t>	•	System displays available buses</a:t>
            </a:r>
          </a:p>
          <a:p>
            <a:r>
              <a:rPr lang="en-US" sz="2000" b="1" dirty="0">
                <a:solidFill>
                  <a:srgbClr val="17375E"/>
                </a:solidFill>
                <a:latin typeface="Times New Roman" pitchFamily="34" charset="0"/>
                <a:ea typeface="Times New Roman" pitchFamily="34" charset="-122"/>
                <a:cs typeface="Times New Roman" pitchFamily="34" charset="-120"/>
              </a:rPr>
              <a:t>	•	User selects seat and confirms booking</a:t>
            </a:r>
          </a:p>
          <a:p>
            <a:r>
              <a:rPr lang="en-US" sz="2000" b="1" dirty="0">
                <a:solidFill>
                  <a:srgbClr val="17375E"/>
                </a:solidFill>
                <a:latin typeface="Times New Roman" pitchFamily="34" charset="0"/>
                <a:ea typeface="Times New Roman" pitchFamily="34" charset="-122"/>
                <a:cs typeface="Times New Roman" pitchFamily="34" charset="-120"/>
              </a:rPr>
              <a:t>	•	Payment is processed</a:t>
            </a:r>
          </a:p>
          <a:p>
            <a:r>
              <a:rPr lang="en-US" sz="2000" b="1" dirty="0">
                <a:solidFill>
                  <a:srgbClr val="17375E"/>
                </a:solidFill>
                <a:latin typeface="Times New Roman" pitchFamily="34" charset="0"/>
                <a:ea typeface="Times New Roman" pitchFamily="34" charset="-122"/>
                <a:cs typeface="Times New Roman" pitchFamily="34" charset="-120"/>
              </a:rPr>
              <a:t>	•	Ticket is generated with PNR</a:t>
            </a:r>
          </a:p>
          <a:p>
            <a:endParaRPr lang="en-US" sz="2000" dirty="0"/>
          </a:p>
        </p:txBody>
      </p:sp>
      <p:sp>
        <p:nvSpPr>
          <p:cNvPr id="26" name="Text 6">
            <a:extLst>
              <a:ext uri="{FF2B5EF4-FFF2-40B4-BE49-F238E27FC236}">
                <a16:creationId xmlns:a16="http://schemas.microsoft.com/office/drawing/2014/main" id="{F975FD1C-6B38-DF12-636E-10C6A1DE63DE}"/>
              </a:ext>
            </a:extLst>
          </p:cNvPr>
          <p:cNvSpPr/>
          <p:nvPr/>
        </p:nvSpPr>
        <p:spPr>
          <a:xfrm>
            <a:off x="556839" y="3747982"/>
            <a:ext cx="8769583" cy="3666920"/>
          </a:xfrm>
          <a:prstGeom prst="rect">
            <a:avLst/>
          </a:prstGeom>
          <a:noFill/>
          <a:ln/>
        </p:spPr>
        <p:txBody>
          <a:bodyPr wrap="square" rtlCol="0" anchor="ctr"/>
          <a:lstStyle/>
          <a:p>
            <a:pPr marL="0" indent="0">
              <a:buNone/>
            </a:pPr>
            <a:r>
              <a:rPr lang="en-US" sz="2000" dirty="0"/>
              <a:t>2. Module Design:</a:t>
            </a:r>
          </a:p>
          <a:p>
            <a:pPr marL="0" indent="0">
              <a:buNone/>
            </a:pPr>
            <a:r>
              <a:rPr lang="en-US" sz="2000" dirty="0"/>
              <a:t>	•	User Module → Registration, Login, Booking</a:t>
            </a:r>
          </a:p>
          <a:p>
            <a:pPr marL="0" indent="0">
              <a:buNone/>
            </a:pPr>
            <a:r>
              <a:rPr lang="en-US" sz="2000" dirty="0"/>
              <a:t>	•	Admin Module → Manage buses, routes, schedules</a:t>
            </a:r>
          </a:p>
          <a:p>
            <a:pPr marL="0" indent="0">
              <a:buNone/>
            </a:pPr>
            <a:r>
              <a:rPr lang="en-US" sz="2000" dirty="0"/>
              <a:t>	•	Booking Module → Seat selection, ticket generation</a:t>
            </a:r>
          </a:p>
          <a:p>
            <a:pPr marL="0" indent="0">
              <a:buNone/>
            </a:pPr>
            <a:r>
              <a:rPr lang="en-US" sz="2000" dirty="0"/>
              <a:t>	•	Payment Module → Payment processing, transaction handling.</a:t>
            </a:r>
          </a:p>
        </p:txBody>
      </p:sp>
      <p:sp>
        <p:nvSpPr>
          <p:cNvPr id="30" name="Text 9">
            <a:extLst>
              <a:ext uri="{FF2B5EF4-FFF2-40B4-BE49-F238E27FC236}">
                <a16:creationId xmlns:a16="http://schemas.microsoft.com/office/drawing/2014/main" id="{52E6DBBC-C7F1-9E84-E74A-2BA80E3B0547}"/>
              </a:ext>
            </a:extLst>
          </p:cNvPr>
          <p:cNvSpPr/>
          <p:nvPr/>
        </p:nvSpPr>
        <p:spPr>
          <a:xfrm>
            <a:off x="1116635" y="5674212"/>
            <a:ext cx="8321040" cy="1740690"/>
          </a:xfrm>
          <a:prstGeom prst="rect">
            <a:avLst/>
          </a:prstGeom>
          <a:noFill/>
          <a:ln/>
        </p:spPr>
        <p:txBody>
          <a:bodyPr wrap="square" rtlCol="0" anchor="ctr"/>
          <a:lstStyle/>
          <a:p>
            <a:pPr marL="285750" indent="-285750" algn="just">
              <a:buFont typeface="Wingdings" panose="05000000000000000000" pitchFamily="2" charset="2"/>
              <a:buChar char="q"/>
            </a:pPr>
            <a:endParaRPr lang="en-US" sz="1600" dirty="0">
              <a:solidFill>
                <a:srgbClr val="000000"/>
              </a:solidFill>
              <a:latin typeface="Times New Roman" pitchFamily="34" charset="0"/>
              <a:cs typeface="Times New Roman" pitchFamily="34" charset="-120"/>
            </a:endParaRPr>
          </a:p>
        </p:txBody>
      </p:sp>
    </p:spTree>
    <p:extLst>
      <p:ext uri="{BB962C8B-B14F-4D97-AF65-F5344CB8AC3E}">
        <p14:creationId xmlns:p14="http://schemas.microsoft.com/office/powerpoint/2010/main" val="314495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7A6E-C969-4FC6-1638-B02DC9858D8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18CD80CE-9A20-C3F9-675C-6A5559C46A59}"/>
              </a:ext>
            </a:extLst>
          </p:cNvPr>
          <p:cNvGrpSpPr/>
          <p:nvPr/>
        </p:nvGrpSpPr>
        <p:grpSpPr>
          <a:xfrm>
            <a:off x="2477248" y="29493"/>
            <a:ext cx="5103904" cy="1198311"/>
            <a:chOff x="2648188" y="47148"/>
            <a:chExt cx="5103904" cy="1198311"/>
          </a:xfrm>
        </p:grpSpPr>
        <p:pic>
          <p:nvPicPr>
            <p:cNvPr id="6" name="object 4">
              <a:extLst>
                <a:ext uri="{FF2B5EF4-FFF2-40B4-BE49-F238E27FC236}">
                  <a16:creationId xmlns:a16="http://schemas.microsoft.com/office/drawing/2014/main" id="{4EE6F78B-EB8B-E507-510F-5E3E95B98B6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0BFA710-1140-7847-52D3-8D6778096E5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9D1D7BE-6FAB-E379-94E6-040D6A76585E}"/>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191A9B2-D3E3-35FE-4108-715E3C7C4C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0A15CDC-61F7-A7B4-E469-6B0C1199925B}"/>
              </a:ext>
            </a:extLst>
          </p:cNvPr>
          <p:cNvSpPr txBox="1">
            <a:spLocks noGrp="1"/>
          </p:cNvSpPr>
          <p:nvPr>
            <p:ph type="title"/>
          </p:nvPr>
        </p:nvSpPr>
        <p:spPr>
          <a:xfrm>
            <a:off x="3863918" y="315139"/>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C71D08-C2F1-0E7E-1D5D-669DEF4FBD1A}"/>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06B09BF8-939E-6C76-4342-E04259FF568B}"/>
              </a:ext>
            </a:extLst>
          </p:cNvPr>
          <p:cNvSpPr txBox="1"/>
          <p:nvPr/>
        </p:nvSpPr>
        <p:spPr>
          <a:xfrm>
            <a:off x="290750" y="748459"/>
            <a:ext cx="9041369" cy="1337354"/>
          </a:xfrm>
          <a:prstGeom prst="rect">
            <a:avLst/>
          </a:prstGeom>
          <a:noFill/>
        </p:spPr>
        <p:txBody>
          <a:bodyPr wrap="square">
            <a:spAutoFit/>
          </a:bodyPr>
          <a:lstStyle/>
          <a:p>
            <a:pPr>
              <a:lnSpc>
                <a:spcPct val="115000"/>
              </a:lnSpc>
              <a:spcAft>
                <a:spcPts val="800"/>
              </a:spcAft>
              <a:buNone/>
            </a:pPr>
            <a:r>
              <a:rPr lang="en-IN" sz="2400" b="1" kern="100" dirty="0">
                <a:latin typeface="Times New Roman" panose="02020603050405020304" pitchFamily="18" charset="0"/>
                <a:ea typeface="Calibri" panose="020F0502020204030204" pitchFamily="34" charset="0"/>
                <a:cs typeface="Gautami" panose="020B0502040204020203" pitchFamily="34" charset="0"/>
              </a:rPr>
              <a:t>Home Page – Main</a:t>
            </a:r>
            <a:r>
              <a:rPr lang="en-IN" sz="2400" b="1" u="sng" kern="100" dirty="0">
                <a:latin typeface="Times New Roman" panose="02020603050405020304" pitchFamily="18" charset="0"/>
                <a:ea typeface="Calibri" panose="020F0502020204030204" pitchFamily="34" charset="0"/>
                <a:cs typeface="Gautami" panose="020B0502040204020203" pitchFamily="34" charset="0"/>
              </a:rPr>
              <a:t> </a:t>
            </a:r>
            <a:r>
              <a:rPr lang="en-IN" sz="2400" b="1" kern="100" dirty="0">
                <a:latin typeface="Times New Roman" panose="02020603050405020304" pitchFamily="18" charset="0"/>
                <a:ea typeface="Calibri" panose="020F0502020204030204" pitchFamily="34" charset="0"/>
                <a:cs typeface="Gautami" panose="020B0502040204020203" pitchFamily="34" charset="0"/>
              </a:rPr>
              <a:t>Interface:</a:t>
            </a:r>
            <a:endParaRPr lang="en-IN" sz="2400" kern="100" dirty="0">
              <a:effectLst/>
              <a:latin typeface="Calibri" panose="020F0502020204030204" pitchFamily="34" charset="0"/>
              <a:ea typeface="Calibri" panose="020F0502020204030204" pitchFamily="34" charset="0"/>
              <a:cs typeface="Gautami" panose="020B0502040204020203" pitchFamily="34" charset="0"/>
            </a:endParaRPr>
          </a:p>
          <a:p>
            <a:pPr>
              <a:lnSpc>
                <a:spcPct val="115000"/>
              </a:lnSpc>
              <a:spcAft>
                <a:spcPts val="800"/>
              </a:spcAft>
              <a:buNone/>
            </a:pPr>
            <a:r>
              <a:rPr lang="en-IN" sz="2400" b="1" u="none" strike="noStrike" kern="100" dirty="0">
                <a:effectLst/>
                <a:latin typeface="Times New Roman" panose="02020603050405020304" pitchFamily="18" charset="0"/>
                <a:ea typeface="Calibri" panose="020F0502020204030204" pitchFamily="34" charset="0"/>
                <a:cs typeface="Gautami" panose="020B0502040204020203" pitchFamily="34" charset="0"/>
              </a:rPr>
              <a:t> </a:t>
            </a:r>
            <a:r>
              <a:rPr lang="en-IN" b="1" u="none" strike="noStrike" kern="100" dirty="0">
                <a:effectLst/>
                <a:latin typeface="Times New Roman" panose="02020603050405020304" pitchFamily="18" charset="0"/>
                <a:ea typeface="Calibri" panose="020F0502020204030204" pitchFamily="34" charset="0"/>
                <a:cs typeface="Gautami" panose="020B0502040204020203" pitchFamily="34" charset="0"/>
              </a:rPr>
              <a:t>The home page is the main entry point of the Online Bus Booking System. It provides a simple, user-friendly interface that allows users to easily search and book bus tickets</a:t>
            </a:r>
            <a:endParaRPr lang="en-IN" dirty="0">
              <a:latin typeface="Times New Roman" panose="02020603050405020304" pitchFamily="18" charset="0"/>
              <a:cs typeface="Times New Roman" panose="02020603050405020304" pitchFamily="18" charset="0"/>
            </a:endParaRPr>
          </a:p>
        </p:txBody>
      </p:sp>
      <p:pic>
        <p:nvPicPr>
          <p:cNvPr id="12" name="Picture 11" descr="A screenshot of a login page&#10;&#10;AI-generated content may be incorrect.">
            <a:extLst>
              <a:ext uri="{FF2B5EF4-FFF2-40B4-BE49-F238E27FC236}">
                <a16:creationId xmlns:a16="http://schemas.microsoft.com/office/drawing/2014/main" id="{36A6DCB6-5F2B-06B1-970B-66C056D1D14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8034" y="2152476"/>
            <a:ext cx="8686800" cy="5590431"/>
          </a:xfrm>
          <a:prstGeom prst="rect">
            <a:avLst/>
          </a:prstGeom>
        </p:spPr>
      </p:pic>
    </p:spTree>
    <p:extLst>
      <p:ext uri="{BB962C8B-B14F-4D97-AF65-F5344CB8AC3E}">
        <p14:creationId xmlns:p14="http://schemas.microsoft.com/office/powerpoint/2010/main" val="2514269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7FA9015-34EB-DE70-EE31-BC0A7171CAD3}"/>
              </a:ext>
            </a:extLst>
          </p:cNvPr>
          <p:cNvSpPr>
            <a:spLocks noGrp="1"/>
          </p:cNvSpPr>
          <p:nvPr>
            <p:ph type="body" idx="1"/>
          </p:nvPr>
        </p:nvSpPr>
        <p:spPr>
          <a:xfrm>
            <a:off x="621188" y="1409149"/>
            <a:ext cx="8949055" cy="1200329"/>
          </a:xfrm>
        </p:spPr>
        <p:txBody>
          <a:bodyPr/>
          <a:lstStyle/>
          <a:p>
            <a:r>
              <a:rPr lang="en-IN" b="0" dirty="0"/>
              <a:t>The </a:t>
            </a:r>
            <a:r>
              <a:rPr lang="en-IN" sz="2000" b="0" dirty="0"/>
              <a:t>dashboard</a:t>
            </a:r>
            <a:r>
              <a:rPr lang="en-IN" b="0" dirty="0"/>
              <a:t> of the Online Bus Booking System (</a:t>
            </a:r>
            <a:r>
              <a:rPr lang="en-IN" b="0" dirty="0" err="1"/>
              <a:t>BusBuddy</a:t>
            </a:r>
            <a:r>
              <a:rPr lang="en-IN" b="0" dirty="0"/>
              <a:t>) provides a centralized and user-friendly interface that allows users to easily access all major functionalities of the system. It includes features such as Search Buses, where users can find buses based on route and date</a:t>
            </a:r>
          </a:p>
        </p:txBody>
      </p:sp>
      <p:grpSp>
        <p:nvGrpSpPr>
          <p:cNvPr id="11" name="object 3">
            <a:extLst>
              <a:ext uri="{FF2B5EF4-FFF2-40B4-BE49-F238E27FC236}">
                <a16:creationId xmlns:a16="http://schemas.microsoft.com/office/drawing/2014/main" id="{4FA6CD4B-5F15-4015-1A9A-B3BB5C35D9F0}"/>
              </a:ext>
            </a:extLst>
          </p:cNvPr>
          <p:cNvGrpSpPr/>
          <p:nvPr/>
        </p:nvGrpSpPr>
        <p:grpSpPr>
          <a:xfrm>
            <a:off x="2590800" y="161097"/>
            <a:ext cx="5103904" cy="1198311"/>
            <a:chOff x="2648188" y="47148"/>
            <a:chExt cx="5103904" cy="1198311"/>
          </a:xfrm>
        </p:grpSpPr>
        <p:pic>
          <p:nvPicPr>
            <p:cNvPr id="12" name="object 4">
              <a:extLst>
                <a:ext uri="{FF2B5EF4-FFF2-40B4-BE49-F238E27FC236}">
                  <a16:creationId xmlns:a16="http://schemas.microsoft.com/office/drawing/2014/main" id="{56304B2F-64CF-B939-C6F7-3AEC1055E4C4}"/>
                </a:ext>
              </a:extLst>
            </p:cNvPr>
            <p:cNvPicPr/>
            <p:nvPr/>
          </p:nvPicPr>
          <p:blipFill>
            <a:blip r:embed="rId2" cstate="print"/>
            <a:stretch>
              <a:fillRect/>
            </a:stretch>
          </p:blipFill>
          <p:spPr>
            <a:xfrm>
              <a:off x="2648188" y="47148"/>
              <a:ext cx="5103904" cy="1198311"/>
            </a:xfrm>
            <a:prstGeom prst="rect">
              <a:avLst/>
            </a:prstGeom>
          </p:spPr>
        </p:pic>
        <p:pic>
          <p:nvPicPr>
            <p:cNvPr id="13" name="object 5">
              <a:extLst>
                <a:ext uri="{FF2B5EF4-FFF2-40B4-BE49-F238E27FC236}">
                  <a16:creationId xmlns:a16="http://schemas.microsoft.com/office/drawing/2014/main" id="{647433BB-2E86-87E0-D841-A2A2FF22F9EC}"/>
                </a:ext>
              </a:extLst>
            </p:cNvPr>
            <p:cNvPicPr/>
            <p:nvPr/>
          </p:nvPicPr>
          <p:blipFill>
            <a:blip r:embed="rId3" cstate="print"/>
            <a:stretch>
              <a:fillRect/>
            </a:stretch>
          </p:blipFill>
          <p:spPr>
            <a:xfrm>
              <a:off x="2703195" y="86439"/>
              <a:ext cx="4997767" cy="1092279"/>
            </a:xfrm>
            <a:prstGeom prst="rect">
              <a:avLst/>
            </a:prstGeom>
          </p:spPr>
        </p:pic>
        <p:pic>
          <p:nvPicPr>
            <p:cNvPr id="14" name="object 6">
              <a:extLst>
                <a:ext uri="{FF2B5EF4-FFF2-40B4-BE49-F238E27FC236}">
                  <a16:creationId xmlns:a16="http://schemas.microsoft.com/office/drawing/2014/main" id="{EF183437-5377-9F2E-B8CC-70504AF92700}"/>
                </a:ext>
              </a:extLst>
            </p:cNvPr>
            <p:cNvPicPr/>
            <p:nvPr/>
          </p:nvPicPr>
          <p:blipFill>
            <a:blip r:embed="rId4" cstate="print"/>
            <a:stretch>
              <a:fillRect/>
            </a:stretch>
          </p:blipFill>
          <p:spPr>
            <a:xfrm>
              <a:off x="2828925" y="243549"/>
              <a:ext cx="4585268" cy="522565"/>
            </a:xfrm>
            <a:prstGeom prst="rect">
              <a:avLst/>
            </a:prstGeom>
          </p:spPr>
        </p:pic>
        <p:sp>
          <p:nvSpPr>
            <p:cNvPr id="15" name="object 7">
              <a:extLst>
                <a:ext uri="{FF2B5EF4-FFF2-40B4-BE49-F238E27FC236}">
                  <a16:creationId xmlns:a16="http://schemas.microsoft.com/office/drawing/2014/main" id="{58CEFAFA-267A-1131-93AF-F4BA3FF7FB1D}"/>
                </a:ext>
              </a:extLst>
            </p:cNvPr>
            <p:cNvSpPr/>
            <p:nvPr/>
          </p:nvSpPr>
          <p:spPr>
            <a:xfrm>
              <a:off x="2881914" y="254978"/>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6" name="object 9">
            <a:extLst>
              <a:ext uri="{FF2B5EF4-FFF2-40B4-BE49-F238E27FC236}">
                <a16:creationId xmlns:a16="http://schemas.microsoft.com/office/drawing/2014/main" id="{CCA4CFB9-5F30-AE4C-F200-5BD47A69FE1A}"/>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7" name="object 3">
            <a:extLst>
              <a:ext uri="{FF2B5EF4-FFF2-40B4-BE49-F238E27FC236}">
                <a16:creationId xmlns:a16="http://schemas.microsoft.com/office/drawing/2014/main" id="{82E44A82-095E-7EDD-3F5D-A304D6EA397C}"/>
              </a:ext>
            </a:extLst>
          </p:cNvPr>
          <p:cNvPicPr/>
          <p:nvPr/>
        </p:nvPicPr>
        <p:blipFill>
          <a:blip r:embed="rId5" cstate="print"/>
          <a:stretch>
            <a:fillRect/>
          </a:stretch>
        </p:blipFill>
        <p:spPr>
          <a:xfrm>
            <a:off x="290750" y="204311"/>
            <a:ext cx="1163002" cy="424338"/>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B0D34976-229D-3183-7B15-A1F0164D456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89150" y="2971800"/>
            <a:ext cx="5880100" cy="4165600"/>
          </a:xfrm>
          <a:prstGeom prst="rect">
            <a:avLst/>
          </a:prstGeom>
        </p:spPr>
      </p:pic>
    </p:spTree>
    <p:extLst>
      <p:ext uri="{BB962C8B-B14F-4D97-AF65-F5344CB8AC3E}">
        <p14:creationId xmlns:p14="http://schemas.microsoft.com/office/powerpoint/2010/main" val="4226228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882AF-3F85-D02B-B167-92BB06FA78F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51F8D081-5351-6A34-F61D-4BFC9E697C5D}"/>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5B86A6D7-44C7-3F2E-0E87-B0BE38F5E60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0CAD93E-47B3-5F1C-50C3-CCFC6FA0C347}"/>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D61A56A4-0FD7-4B40-8D6B-4C66C95E7C91}"/>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CA7F524B-FE9E-1FF8-1621-5EDB9B2A9EB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CFAF95C4-DE06-BB07-8BE1-1C14ACA3AC98}"/>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3AD385-1BD8-C19B-6526-BBB862770E82}"/>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B8DE39BD-B38D-F038-C3C2-37F3F226C77D}"/>
              </a:ext>
            </a:extLst>
          </p:cNvPr>
          <p:cNvSpPr txBox="1"/>
          <p:nvPr/>
        </p:nvSpPr>
        <p:spPr>
          <a:xfrm>
            <a:off x="290750" y="1061961"/>
            <a:ext cx="9906000" cy="1235210"/>
          </a:xfrm>
          <a:prstGeom prst="rect">
            <a:avLst/>
          </a:prstGeom>
          <a:noFill/>
        </p:spPr>
        <p:txBody>
          <a:bodyPr wrap="square">
            <a:spAutoFit/>
          </a:bodyPr>
          <a:lstStyle/>
          <a:p>
            <a:pPr>
              <a:lnSpc>
                <a:spcPct val="115000"/>
              </a:lnSpc>
              <a:spcAft>
                <a:spcPts val="800"/>
              </a:spcAft>
            </a:pPr>
            <a:r>
              <a:rPr lang="en-IN" sz="2400" b="1" kern="100" dirty="0">
                <a:latin typeface="Times New Roman" panose="02020603050405020304" pitchFamily="18" charset="0"/>
                <a:ea typeface="Calibri" panose="020F0502020204030204" pitchFamily="34" charset="0"/>
                <a:cs typeface="Gautami" panose="020B0502040204020203" pitchFamily="34" charset="0"/>
              </a:rPr>
              <a:t>Bus Selection Page:</a:t>
            </a:r>
          </a:p>
          <a:p>
            <a:r>
              <a:rPr lang="en-IN" sz="2000" dirty="0">
                <a:latin typeface="Times New Roman" panose="02020603050405020304" pitchFamily="18" charset="0"/>
                <a:cs typeface="Times New Roman" panose="02020603050405020304" pitchFamily="18" charset="0"/>
              </a:rPr>
              <a:t>     At the </a:t>
            </a:r>
            <a:r>
              <a:rPr lang="en-IN" sz="2000" dirty="0" err="1">
                <a:latin typeface="Times New Roman" panose="02020603050405020304" pitchFamily="18" charset="0"/>
                <a:cs typeface="Times New Roman" panose="02020603050405020304" pitchFamily="18" charset="0"/>
              </a:rPr>
              <a:t>center</a:t>
            </a:r>
            <a:r>
              <a:rPr lang="en-IN" sz="2000" dirty="0">
                <a:latin typeface="Times New Roman" panose="02020603050405020304" pitchFamily="18" charset="0"/>
                <a:cs typeface="Times New Roman" panose="02020603050405020304" pitchFamily="18" charset="0"/>
              </a:rPr>
              <a:t> of the page, a search panel is provided where users can enter travel details such as source, destination, travel date, and number of passengers</a:t>
            </a:r>
          </a:p>
        </p:txBody>
      </p:sp>
      <p:pic>
        <p:nvPicPr>
          <p:cNvPr id="12" name="Picture 11" descr="A screenshot of a computer&#10;&#10;AI-generated content may be incorrect.">
            <a:extLst>
              <a:ext uri="{FF2B5EF4-FFF2-40B4-BE49-F238E27FC236}">
                <a16:creationId xmlns:a16="http://schemas.microsoft.com/office/drawing/2014/main" id="{A3020ABC-4611-F1FD-90B7-5D4283766CC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4400" y="2479070"/>
            <a:ext cx="8229600" cy="4378930"/>
          </a:xfrm>
          <a:prstGeom prst="rect">
            <a:avLst/>
          </a:prstGeom>
        </p:spPr>
      </p:pic>
    </p:spTree>
    <p:extLst>
      <p:ext uri="{BB962C8B-B14F-4D97-AF65-F5344CB8AC3E}">
        <p14:creationId xmlns:p14="http://schemas.microsoft.com/office/powerpoint/2010/main" val="2972483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A61D0-099F-C774-0062-C8956AD10B14}"/>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C44C1A33-7C14-0DEB-3965-284AF49FCF96}"/>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5AD8913-F996-8CEC-7934-417EC50677A9}"/>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4C01121-5342-6ED4-E848-5F0A26A4F298}"/>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E76C04D3-36A1-A3D8-4753-54D754D0682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DEDA527A-944E-DD9F-9390-C3FE8A62152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1E0144C-CD6A-71E3-CB87-9E558AD5FF4A}"/>
              </a:ext>
            </a:extLst>
          </p:cNvPr>
          <p:cNvSpPr txBox="1">
            <a:spLocks noGrp="1"/>
          </p:cNvSpPr>
          <p:nvPr>
            <p:ph type="title"/>
          </p:nvPr>
        </p:nvSpPr>
        <p:spPr>
          <a:xfrm>
            <a:off x="3724479" y="450118"/>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63F76BCB-14FA-BBEA-1CDB-64C0E4637DB7}"/>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7E08911D-DB8D-864A-A56A-021103D1465A}"/>
              </a:ext>
            </a:extLst>
          </p:cNvPr>
          <p:cNvSpPr txBox="1"/>
          <p:nvPr/>
        </p:nvSpPr>
        <p:spPr>
          <a:xfrm>
            <a:off x="290750" y="933341"/>
            <a:ext cx="9462850" cy="1973874"/>
          </a:xfrm>
          <a:prstGeom prst="rect">
            <a:avLst/>
          </a:prstGeom>
          <a:noFill/>
        </p:spPr>
        <p:txBody>
          <a:bodyPr wrap="square">
            <a:spAutoFit/>
          </a:bodyPr>
          <a:lstStyle/>
          <a:p>
            <a:pPr>
              <a:lnSpc>
                <a:spcPct val="115000"/>
              </a:lnSpc>
              <a:spcAft>
                <a:spcPts val="800"/>
              </a:spcAft>
            </a:pPr>
            <a:r>
              <a:rPr lang="en-IN" sz="2400" b="1" kern="100" dirty="0">
                <a:latin typeface="Times New Roman" panose="02020603050405020304" pitchFamily="18" charset="0"/>
                <a:ea typeface="Calibri" panose="020F0502020204030204" pitchFamily="34" charset="0"/>
                <a:cs typeface="Gautami" panose="020B0502040204020203" pitchFamily="34" charset="0"/>
              </a:rPr>
              <a:t>Seat Selection Page:</a:t>
            </a:r>
            <a:endParaRPr lang="en-IN" sz="1800" b="1" dirty="0"/>
          </a:p>
          <a:p>
            <a:r>
              <a:rPr lang="en-US" sz="2200" dirty="0">
                <a:latin typeface="Times New Roman" panose="02020603050405020304" pitchFamily="18" charset="0"/>
                <a:cs typeface="Times New Roman" panose="02020603050405020304" pitchFamily="18" charset="0"/>
              </a:rPr>
              <a:t>   The projects page showcases technical projects with descriptions, technologies used, and project links. Each project is displayed in a card with an image placeholder, title, description, technology tags, and a button to view the live project or GitHub repository. </a:t>
            </a:r>
            <a:endParaRPr lang="en-IN" sz="2200" dirty="0">
              <a:latin typeface="Times New Roman" panose="02020603050405020304" pitchFamily="18" charset="0"/>
              <a:cs typeface="Times New Roman" panose="02020603050405020304" pitchFamily="18" charset="0"/>
            </a:endParaRPr>
          </a:p>
        </p:txBody>
      </p:sp>
      <p:pic>
        <p:nvPicPr>
          <p:cNvPr id="12" name="Picture 11" descr="A screenshot of a computer&#10;&#10;AI-generated content may be incorrect.">
            <a:extLst>
              <a:ext uri="{FF2B5EF4-FFF2-40B4-BE49-F238E27FC236}">
                <a16:creationId xmlns:a16="http://schemas.microsoft.com/office/drawing/2014/main" id="{6A880D58-0F6A-ECFA-1EC9-C81D59A4D49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95400" y="3048000"/>
            <a:ext cx="7086599" cy="4140200"/>
          </a:xfrm>
          <a:prstGeom prst="rect">
            <a:avLst/>
          </a:prstGeom>
        </p:spPr>
      </p:pic>
    </p:spTree>
    <p:extLst>
      <p:ext uri="{BB962C8B-B14F-4D97-AF65-F5344CB8AC3E}">
        <p14:creationId xmlns:p14="http://schemas.microsoft.com/office/powerpoint/2010/main" val="359963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FAADD-4D19-CE1A-A0AE-6EEF35365F0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7B9191B-FE96-8A59-9690-2C061E758CB3}"/>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20D78732-F9B9-1FDA-D8E5-B64B1742716B}"/>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F82D761-8FA6-96D2-9CDC-DFD4213896D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678599C3-BD7C-742E-28E2-F7E1A4CB43D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9F6FA399-08A4-A0BD-F528-C5D21B7052B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8F364F5D-D793-1E9D-BAE2-D5AEB2FAA6EF}"/>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3FA4B9F1-F58E-6088-7BFB-C923676C0FFD}"/>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DFDFF7E8-2D7E-EE44-718C-EFE70C9A2E40}"/>
              </a:ext>
            </a:extLst>
          </p:cNvPr>
          <p:cNvSpPr txBox="1"/>
          <p:nvPr/>
        </p:nvSpPr>
        <p:spPr>
          <a:xfrm>
            <a:off x="551328" y="1312306"/>
            <a:ext cx="8763000" cy="1229119"/>
          </a:xfrm>
          <a:prstGeom prst="rect">
            <a:avLst/>
          </a:prstGeom>
          <a:noFill/>
        </p:spPr>
        <p:txBody>
          <a:bodyPr wrap="square">
            <a:spAutoFit/>
          </a:bodyPr>
          <a:lstStyle/>
          <a:p>
            <a:pPr>
              <a:lnSpc>
                <a:spcPct val="115000"/>
              </a:lnSpc>
              <a:spcAft>
                <a:spcPts val="800"/>
              </a:spcAft>
            </a:pPr>
            <a:r>
              <a:rPr lang="en-IN" sz="2200" dirty="0">
                <a:latin typeface="Times New Roman" panose="02020603050405020304" pitchFamily="18" charset="0"/>
                <a:cs typeface="Times New Roman" panose="02020603050405020304" pitchFamily="18" charset="0"/>
              </a:rPr>
              <a:t>At the </a:t>
            </a:r>
            <a:r>
              <a:rPr lang="en-IN" sz="2200" dirty="0" err="1">
                <a:latin typeface="Times New Roman" panose="02020603050405020304" pitchFamily="18" charset="0"/>
                <a:cs typeface="Times New Roman" panose="02020603050405020304" pitchFamily="18" charset="0"/>
              </a:rPr>
              <a:t>center</a:t>
            </a:r>
            <a:r>
              <a:rPr lang="en-IN" sz="2200" dirty="0">
                <a:latin typeface="Times New Roman" panose="02020603050405020304" pitchFamily="18" charset="0"/>
                <a:cs typeface="Times New Roman" panose="02020603050405020304" pitchFamily="18" charset="0"/>
              </a:rPr>
              <a:t> of the page, a search panel is provided where users can enter travel details such as source, destination, travel date, and number of passengers and way of method of payment system.</a:t>
            </a:r>
          </a:p>
        </p:txBody>
      </p:sp>
      <p:pic>
        <p:nvPicPr>
          <p:cNvPr id="16" name="Picture 15" descr="A screenshot of a payment method&#10;&#10;AI-generated content may be incorrect.">
            <a:extLst>
              <a:ext uri="{FF2B5EF4-FFF2-40B4-BE49-F238E27FC236}">
                <a16:creationId xmlns:a16="http://schemas.microsoft.com/office/drawing/2014/main" id="{6E207120-6277-D021-9161-6059D6F477D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33600" y="2936320"/>
            <a:ext cx="5509974" cy="4419600"/>
          </a:xfrm>
          <a:prstGeom prst="rect">
            <a:avLst/>
          </a:prstGeom>
        </p:spPr>
      </p:pic>
    </p:spTree>
    <p:extLst>
      <p:ext uri="{BB962C8B-B14F-4D97-AF65-F5344CB8AC3E}">
        <p14:creationId xmlns:p14="http://schemas.microsoft.com/office/powerpoint/2010/main" val="4049249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66B15-FBBA-88E4-439B-3760D86B920E}"/>
            </a:ext>
          </a:extLst>
        </p:cNvPr>
        <p:cNvGrpSpPr/>
        <p:nvPr/>
      </p:nvGrpSpPr>
      <p:grpSpPr>
        <a:xfrm>
          <a:off x="0" y="0"/>
          <a:ext cx="0" cy="0"/>
          <a:chOff x="0" y="0"/>
          <a:chExt cx="0" cy="0"/>
        </a:xfrm>
      </p:grpSpPr>
      <p:grpSp>
        <p:nvGrpSpPr>
          <p:cNvPr id="7" name="object 3">
            <a:extLst>
              <a:ext uri="{FF2B5EF4-FFF2-40B4-BE49-F238E27FC236}">
                <a16:creationId xmlns:a16="http://schemas.microsoft.com/office/drawing/2014/main" id="{2AA4C980-B3A7-207C-41C1-E5E20AC1774F}"/>
              </a:ext>
            </a:extLst>
          </p:cNvPr>
          <p:cNvGrpSpPr/>
          <p:nvPr/>
        </p:nvGrpSpPr>
        <p:grpSpPr>
          <a:xfrm>
            <a:off x="2477247" y="207788"/>
            <a:ext cx="5103904" cy="1198311"/>
            <a:chOff x="2648188" y="47148"/>
            <a:chExt cx="5103904" cy="1198311"/>
          </a:xfrm>
        </p:grpSpPr>
        <p:pic>
          <p:nvPicPr>
            <p:cNvPr id="8" name="object 4">
              <a:extLst>
                <a:ext uri="{FF2B5EF4-FFF2-40B4-BE49-F238E27FC236}">
                  <a16:creationId xmlns:a16="http://schemas.microsoft.com/office/drawing/2014/main" id="{FCE0C84F-6254-D24F-D561-30DE987BE354}"/>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7909B96B-5C39-8043-CA2D-5B828EFA7574}"/>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5015D36-BC2F-3B81-753E-F473E84B785D}"/>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2E63626-00F9-C9BD-F925-C51513AE50E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D4D54D4E-EE1A-E311-1FB3-DF54075DFCDF}"/>
              </a:ext>
            </a:extLst>
          </p:cNvPr>
          <p:cNvSpPr txBox="1">
            <a:spLocks noGrp="1"/>
          </p:cNvSpPr>
          <p:nvPr>
            <p:ph type="title"/>
          </p:nvPr>
        </p:nvSpPr>
        <p:spPr>
          <a:xfrm>
            <a:off x="3649027" y="438046"/>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Future Enhancements</a:t>
            </a:r>
          </a:p>
        </p:txBody>
      </p:sp>
      <p:pic>
        <p:nvPicPr>
          <p:cNvPr id="13" name="object 3">
            <a:extLst>
              <a:ext uri="{FF2B5EF4-FFF2-40B4-BE49-F238E27FC236}">
                <a16:creationId xmlns:a16="http://schemas.microsoft.com/office/drawing/2014/main" id="{A2987431-337A-DB3D-5560-70B732DBEDE6}"/>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B1A5F71B-4EA4-2441-78DD-F893C2B2315C}"/>
              </a:ext>
            </a:extLst>
          </p:cNvPr>
          <p:cNvSpPr txBox="1"/>
          <p:nvPr/>
        </p:nvSpPr>
        <p:spPr>
          <a:xfrm>
            <a:off x="76200" y="1219200"/>
            <a:ext cx="9982200" cy="6186309"/>
          </a:xfrm>
          <a:prstGeom prst="rect">
            <a:avLst/>
          </a:prstGeom>
          <a:noFill/>
        </p:spPr>
        <p:txBody>
          <a:bodyPr wrap="square" rtlCol="0">
            <a:spAutoFit/>
          </a:bodyPr>
          <a:lstStyle/>
          <a:p>
            <a:r>
              <a:rPr lang="en-US" dirty="0"/>
              <a:t>1. Mobile Application</a:t>
            </a:r>
          </a:p>
          <a:p>
            <a:pPr marL="285750" indent="-285750">
              <a:buFont typeface="Wingdings" pitchFamily="2" charset="2"/>
              <a:buChar char="q"/>
            </a:pPr>
            <a:r>
              <a:rPr lang="en-US" dirty="0"/>
              <a:t>Develop Android and iOS apps</a:t>
            </a:r>
          </a:p>
          <a:p>
            <a:pPr marL="285750" indent="-285750">
              <a:buFont typeface="Wingdings" pitchFamily="2" charset="2"/>
              <a:buChar char="q"/>
            </a:pPr>
            <a:r>
              <a:rPr lang="en-US" dirty="0"/>
              <a:t>Easy access for users anytime</a:t>
            </a:r>
          </a:p>
          <a:p>
            <a:endParaRPr lang="en-US" dirty="0"/>
          </a:p>
          <a:p>
            <a:r>
              <a:rPr lang="en-US" dirty="0"/>
              <a:t>2. Online Payment Integration</a:t>
            </a:r>
          </a:p>
          <a:p>
            <a:pPr marL="285750" indent="-285750">
              <a:buFont typeface="Wingdings" pitchFamily="2" charset="2"/>
              <a:buChar char="q"/>
            </a:pPr>
            <a:r>
              <a:rPr lang="en-US" dirty="0"/>
              <a:t>Support UPI, debit/credit cards</a:t>
            </a:r>
          </a:p>
          <a:p>
            <a:pPr marL="285750" indent="-285750">
              <a:buFont typeface="Wingdings" pitchFamily="2" charset="2"/>
              <a:buChar char="q"/>
            </a:pPr>
            <a:r>
              <a:rPr lang="en-US" dirty="0"/>
              <a:t>Secure and fast transactions</a:t>
            </a:r>
          </a:p>
          <a:p>
            <a:endParaRPr lang="en-US" dirty="0"/>
          </a:p>
          <a:p>
            <a:r>
              <a:rPr lang="en-US" dirty="0"/>
              <a:t>3. Real-Time Tracking</a:t>
            </a:r>
          </a:p>
          <a:p>
            <a:pPr marL="285750" indent="-285750">
              <a:buFont typeface="Wingdings" pitchFamily="2" charset="2"/>
              <a:buChar char="q"/>
            </a:pPr>
            <a:r>
              <a:rPr lang="en-US" dirty="0"/>
              <a:t>GPS-based bus tracking</a:t>
            </a:r>
          </a:p>
          <a:p>
            <a:pPr marL="285750" indent="-285750">
              <a:buFont typeface="Wingdings" pitchFamily="2" charset="2"/>
              <a:buChar char="q"/>
            </a:pPr>
            <a:r>
              <a:rPr lang="en-US" dirty="0"/>
              <a:t>Live location updates</a:t>
            </a:r>
          </a:p>
          <a:p>
            <a:endParaRPr lang="en-US" dirty="0"/>
          </a:p>
          <a:p>
            <a:endParaRPr lang="en-US" dirty="0"/>
          </a:p>
          <a:p>
            <a:r>
              <a:rPr lang="en-US" dirty="0"/>
              <a:t>4. Smart Recommendations</a:t>
            </a:r>
          </a:p>
          <a:p>
            <a:pPr marL="285750" indent="-285750">
              <a:buFont typeface="Wingdings" pitchFamily="2" charset="2"/>
              <a:buChar char="q"/>
            </a:pPr>
            <a:r>
              <a:rPr lang="en-US" dirty="0"/>
              <a:t>AI-based route suggestions</a:t>
            </a:r>
          </a:p>
          <a:p>
            <a:pPr marL="285750" indent="-285750">
              <a:buFont typeface="Wingdings" pitchFamily="2" charset="2"/>
              <a:buChar char="q"/>
            </a:pPr>
            <a:r>
              <a:rPr lang="en-US" dirty="0"/>
              <a:t>Personalized bus options</a:t>
            </a:r>
          </a:p>
          <a:p>
            <a:pPr marL="285750" indent="-285750">
              <a:buFont typeface="Wingdings" pitchFamily="2" charset="2"/>
              <a:buChar char="q"/>
            </a:pPr>
            <a:endParaRPr lang="en-US" dirty="0"/>
          </a:p>
          <a:p>
            <a:r>
              <a:rPr lang="en-US" dirty="0"/>
              <a:t>5. Dynamic Pricing</a:t>
            </a:r>
          </a:p>
          <a:p>
            <a:pPr marL="285750" indent="-285750">
              <a:buFont typeface="Wingdings" pitchFamily="2" charset="2"/>
              <a:buChar char="q"/>
            </a:pPr>
            <a:r>
              <a:rPr lang="en-US" dirty="0"/>
              <a:t> Price varies based on demand</a:t>
            </a:r>
          </a:p>
          <a:p>
            <a:pPr marL="285750" indent="-285750">
              <a:buFont typeface="Wingdings" pitchFamily="2" charset="2"/>
              <a:buChar char="q"/>
            </a:pPr>
            <a:r>
              <a:rPr lang="en-US" dirty="0"/>
              <a:t> Better revenue management</a:t>
            </a:r>
          </a:p>
          <a:p>
            <a:endParaRPr lang="en-US" dirty="0"/>
          </a:p>
          <a:p>
            <a:endParaRPr lang="en-US" dirty="0"/>
          </a:p>
        </p:txBody>
      </p:sp>
    </p:spTree>
    <p:extLst>
      <p:ext uri="{BB962C8B-B14F-4D97-AF65-F5344CB8AC3E}">
        <p14:creationId xmlns:p14="http://schemas.microsoft.com/office/powerpoint/2010/main" val="1218789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B4592-5775-79D7-4F02-0BE4F7025B51}"/>
              </a:ext>
            </a:extLst>
          </p:cNvPr>
          <p:cNvSpPr txBox="1"/>
          <p:nvPr/>
        </p:nvSpPr>
        <p:spPr>
          <a:xfrm>
            <a:off x="0" y="1269834"/>
            <a:ext cx="9688924" cy="6223307"/>
          </a:xfrm>
          <a:prstGeom prst="rect">
            <a:avLst/>
          </a:prstGeom>
          <a:noFill/>
        </p:spPr>
        <p:txBody>
          <a:bodyPr wrap="square" rtlCol="0">
            <a:spAutoFit/>
          </a:bodyPr>
          <a:lstStyle/>
          <a:p>
            <a:pPr algn="just">
              <a:lnSpc>
                <a:spcPct val="150000"/>
              </a:lnSpc>
            </a:pPr>
            <a:r>
              <a:rPr lang="en-US" sz="2000" dirty="0">
                <a:solidFill>
                  <a:schemeClr val="tx1"/>
                </a:solidFill>
                <a:latin typeface="Times New Roman" panose="02020603050405020304" pitchFamily="18" charset="0"/>
                <a:ea typeface="+mn-ea"/>
                <a:cs typeface="Times New Roman" panose="02020603050405020304" pitchFamily="18" charset="0"/>
              </a:rPr>
              <a:t>1. System Overview:</a:t>
            </a:r>
          </a:p>
          <a:p>
            <a:pPr marL="342900" indent="-342900" algn="just">
              <a:lnSpc>
                <a:spcPct val="150000"/>
              </a:lnSpc>
              <a:buFont typeface="Arial" panose="020B0604020202020204" pitchFamily="34" charset="0"/>
              <a:buChar char="•"/>
            </a:pPr>
            <a:r>
              <a:rPr lang="en-US" sz="2000" dirty="0">
                <a:solidFill>
                  <a:schemeClr val="tx1"/>
                </a:solidFill>
                <a:latin typeface="Times New Roman" panose="02020603050405020304" pitchFamily="18" charset="0"/>
                <a:ea typeface="+mn-ea"/>
                <a:cs typeface="Times New Roman" panose="02020603050405020304" pitchFamily="18" charset="0"/>
              </a:rPr>
              <a:t>The Online Bus Booking System provides a digital platform for ticket reservation</a:t>
            </a:r>
          </a:p>
          <a:p>
            <a:pPr marL="342900" indent="-342900" algn="just">
              <a:lnSpc>
                <a:spcPct val="150000"/>
              </a:lnSpc>
              <a:buFont typeface="Arial" panose="020B0604020202020204" pitchFamily="34" charset="0"/>
              <a:buChar char="•"/>
            </a:pPr>
            <a:r>
              <a:rPr lang="en-US" sz="2000" dirty="0">
                <a:solidFill>
                  <a:schemeClr val="tx1"/>
                </a:solidFill>
                <a:latin typeface="Times New Roman" panose="02020603050405020304" pitchFamily="18" charset="0"/>
                <a:ea typeface="+mn-ea"/>
                <a:cs typeface="Times New Roman" panose="02020603050405020304" pitchFamily="18" charset="0"/>
              </a:rPr>
              <a:t>Replaces traditional manual booking methods</a:t>
            </a:r>
          </a:p>
          <a:p>
            <a:pPr algn="just">
              <a:lnSpc>
                <a:spcPct val="150000"/>
              </a:lnSpc>
            </a:pPr>
            <a:r>
              <a:rPr lang="en-US" sz="2000" dirty="0">
                <a:solidFill>
                  <a:schemeClr val="tx1"/>
                </a:solidFill>
                <a:latin typeface="Times New Roman" panose="02020603050405020304" pitchFamily="18" charset="0"/>
                <a:ea typeface="+mn-ea"/>
                <a:cs typeface="Times New Roman" panose="02020603050405020304" pitchFamily="18" charset="0"/>
              </a:rPr>
              <a:t>2. Efficiency Improvement:</a:t>
            </a:r>
          </a:p>
          <a:p>
            <a:pPr marL="342900" indent="-342900" algn="just">
              <a:lnSpc>
                <a:spcPct val="150000"/>
              </a:lnSpc>
              <a:buFont typeface="Arial" panose="020B0604020202020204" pitchFamily="34" charset="0"/>
              <a:buChar char="•"/>
            </a:pPr>
            <a:r>
              <a:rPr lang="en-US" sz="2000" dirty="0">
                <a:solidFill>
                  <a:schemeClr val="tx1"/>
                </a:solidFill>
                <a:latin typeface="Times New Roman" panose="02020603050405020304" pitchFamily="18" charset="0"/>
                <a:ea typeface="+mn-ea"/>
                <a:cs typeface="Times New Roman" panose="02020603050405020304" pitchFamily="18" charset="0"/>
              </a:rPr>
              <a:t>Reduces time and effort for users</a:t>
            </a:r>
          </a:p>
          <a:p>
            <a:pPr marL="342900" indent="-342900" algn="just">
              <a:lnSpc>
                <a:spcPct val="150000"/>
              </a:lnSpc>
              <a:buFont typeface="Arial" panose="020B0604020202020204" pitchFamily="34" charset="0"/>
              <a:buChar char="•"/>
            </a:pPr>
            <a:r>
              <a:rPr lang="en-US" sz="2000" dirty="0">
                <a:solidFill>
                  <a:schemeClr val="tx1"/>
                </a:solidFill>
                <a:latin typeface="Times New Roman" panose="02020603050405020304" pitchFamily="18" charset="0"/>
                <a:ea typeface="+mn-ea"/>
                <a:cs typeface="Times New Roman" panose="02020603050405020304" pitchFamily="18" charset="0"/>
              </a:rPr>
              <a:t>Minimizes human errors in booking process</a:t>
            </a:r>
          </a:p>
          <a:p>
            <a:pPr algn="just">
              <a:lnSpc>
                <a:spcPct val="150000"/>
              </a:lnSpc>
            </a:pPr>
            <a:r>
              <a:rPr lang="en-US" sz="2000" dirty="0">
                <a:solidFill>
                  <a:schemeClr val="tx1"/>
                </a:solidFill>
                <a:latin typeface="Times New Roman" panose="02020603050405020304" pitchFamily="18" charset="0"/>
                <a:ea typeface="+mn-ea"/>
                <a:cs typeface="Times New Roman" panose="02020603050405020304" pitchFamily="18" charset="0"/>
              </a:rPr>
              <a:t>3. User Convenience:</a:t>
            </a:r>
          </a:p>
          <a:p>
            <a:pPr marL="342900" indent="-342900" algn="just">
              <a:lnSpc>
                <a:spcPct val="150000"/>
              </a:lnSpc>
              <a:buFont typeface="Arial" panose="020B0604020202020204" pitchFamily="34" charset="0"/>
              <a:buChar char="•"/>
            </a:pPr>
            <a:r>
              <a:rPr lang="en-US" sz="2000" dirty="0">
                <a:solidFill>
                  <a:schemeClr val="tx1"/>
                </a:solidFill>
                <a:latin typeface="Times New Roman" panose="02020603050405020304" pitchFamily="18" charset="0"/>
                <a:ea typeface="+mn-ea"/>
                <a:cs typeface="Times New Roman" panose="02020603050405020304" pitchFamily="18" charset="0"/>
              </a:rPr>
              <a:t>Allows booking anytime and anywhere</a:t>
            </a:r>
          </a:p>
          <a:p>
            <a:pPr marL="342900" indent="-342900" algn="just">
              <a:lnSpc>
                <a:spcPct val="150000"/>
              </a:lnSpc>
              <a:buFont typeface="Arial" panose="020B0604020202020204" pitchFamily="34" charset="0"/>
              <a:buChar char="•"/>
            </a:pPr>
            <a:r>
              <a:rPr lang="en-US" sz="2000" dirty="0">
                <a:solidFill>
                  <a:schemeClr val="tx1"/>
                </a:solidFill>
                <a:latin typeface="Times New Roman" panose="02020603050405020304" pitchFamily="18" charset="0"/>
                <a:ea typeface="+mn-ea"/>
                <a:cs typeface="Times New Roman" panose="02020603050405020304" pitchFamily="18" charset="0"/>
              </a:rPr>
              <a:t>Provides easy access to schedules and seat availability</a:t>
            </a:r>
          </a:p>
          <a:p>
            <a:pPr algn="just">
              <a:lnSpc>
                <a:spcPct val="150000"/>
              </a:lnSpc>
            </a:pPr>
            <a:r>
              <a:rPr lang="en-US" sz="2000" dirty="0">
                <a:solidFill>
                  <a:schemeClr val="tx1"/>
                </a:solidFill>
                <a:latin typeface="Times New Roman" panose="02020603050405020304" pitchFamily="18" charset="0"/>
                <a:ea typeface="+mn-ea"/>
                <a:cs typeface="Times New Roman" panose="02020603050405020304" pitchFamily="18" charset="0"/>
              </a:rPr>
              <a:t> 4. Data Management:</a:t>
            </a:r>
          </a:p>
          <a:p>
            <a:pPr marL="342900" indent="-342900" algn="just">
              <a:lnSpc>
                <a:spcPct val="150000"/>
              </a:lnSpc>
              <a:buFont typeface="Arial" panose="020B0604020202020204" pitchFamily="34" charset="0"/>
              <a:buChar char="•"/>
            </a:pPr>
            <a:r>
              <a:rPr lang="en-US" sz="2000" dirty="0">
                <a:solidFill>
                  <a:schemeClr val="tx1"/>
                </a:solidFill>
                <a:latin typeface="Times New Roman" panose="02020603050405020304" pitchFamily="18" charset="0"/>
                <a:ea typeface="+mn-ea"/>
                <a:cs typeface="Times New Roman" panose="02020603050405020304" pitchFamily="18" charset="0"/>
              </a:rPr>
              <a:t>Ensures secure and organized storage of data</a:t>
            </a:r>
          </a:p>
          <a:p>
            <a:pPr marL="342900" indent="-342900" algn="just">
              <a:lnSpc>
                <a:spcPct val="150000"/>
              </a:lnSpc>
              <a:buFont typeface="Arial" panose="020B0604020202020204" pitchFamily="34" charset="0"/>
              <a:buChar char="•"/>
            </a:pPr>
            <a:r>
              <a:rPr lang="en-US" sz="2000" dirty="0">
                <a:solidFill>
                  <a:schemeClr val="tx1"/>
                </a:solidFill>
                <a:latin typeface="Times New Roman" panose="02020603050405020304" pitchFamily="18" charset="0"/>
                <a:ea typeface="+mn-ea"/>
                <a:cs typeface="Times New Roman" panose="02020603050405020304" pitchFamily="18" charset="0"/>
              </a:rPr>
              <a:t>Maintains accuracy using database system Enhances user experience with a simple interface</a:t>
            </a:r>
          </a:p>
        </p:txBody>
      </p:sp>
      <p:grpSp>
        <p:nvGrpSpPr>
          <p:cNvPr id="7" name="object 3">
            <a:extLst>
              <a:ext uri="{FF2B5EF4-FFF2-40B4-BE49-F238E27FC236}">
                <a16:creationId xmlns:a16="http://schemas.microsoft.com/office/drawing/2014/main" id="{20B8B724-A73F-F006-222B-6A4FF27EB83E}"/>
              </a:ext>
            </a:extLst>
          </p:cNvPr>
          <p:cNvGrpSpPr/>
          <p:nvPr/>
        </p:nvGrpSpPr>
        <p:grpSpPr>
          <a:xfrm>
            <a:off x="2536083" y="-18846"/>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1914" y="270305"/>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01935" y="252650"/>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6941927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java ppt" id="{91944A48-B0E7-FB49-918A-782A262F0F5B}" vid="{CBB9E87B-8310-2842-903D-1B815233CBC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3091</TotalTime>
  <Words>1177</Words>
  <Application>Microsoft Macintosh PowerPoint</Application>
  <PresentationFormat>Custom</PresentationFormat>
  <Paragraphs>147</Paragraphs>
  <Slides>18</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Cambria</vt:lpstr>
      <vt:lpstr>Courier New</vt:lpstr>
      <vt:lpstr>Palatino Linotype</vt:lpstr>
      <vt:lpstr>Times New Roman</vt:lpstr>
      <vt:lpstr>Wingdings</vt:lpstr>
      <vt:lpstr>Office Theme</vt:lpstr>
      <vt:lpstr>Java Programming Cornerstone Project Final Review</vt:lpstr>
      <vt:lpstr>PowerPoint Presentation</vt:lpstr>
      <vt:lpstr>ABSTRACT</vt:lpstr>
      <vt:lpstr>PowerPoint Presentation</vt:lpstr>
      <vt:lpstr>PowerPoint Presentation</vt:lpstr>
      <vt:lpstr>PowerPoint Presentation</vt:lpstr>
      <vt:lpstr>Database Design</vt:lpstr>
      <vt:lpstr>Database Design</vt:lpstr>
      <vt:lpstr>Database Design</vt:lpstr>
      <vt:lpstr>SYSTEM DESIGN</vt:lpstr>
      <vt:lpstr>System Implementation</vt:lpstr>
      <vt:lpstr>System Implementation</vt:lpstr>
      <vt:lpstr>System Implementation</vt:lpstr>
      <vt:lpstr>System Implementation</vt:lpstr>
      <vt:lpstr>System Implementation</vt:lpstr>
      <vt:lpstr>Future Enhancements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24B11DS237</cp:lastModifiedBy>
  <cp:revision>59</cp:revision>
  <cp:lastPrinted>2025-10-14T18:21:49Z</cp:lastPrinted>
  <dcterms:created xsi:type="dcterms:W3CDTF">2025-10-10T08:28:06Z</dcterms:created>
  <dcterms:modified xsi:type="dcterms:W3CDTF">2026-04-07T04:13:08Z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